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Explain that slides include detailed notes that also serve as the participant reference. Encourage questions and note-taking.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2 is hands-on. Start with concepts, then move into Docker, Compose and Kubernetes labs. Keep slides concise enough to leave time for labs.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'microservices are always better'. They solve organisational scaling problems as much as technical 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each microservice owns its data and can be scaled, deployed and owned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to the sample app: one Dockerfile for the order service and another for the payment service, composed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try to cover every resource. Focus on the minimum viable mental model: desired state declared in YAML, reconciled by controllers.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shows a four-worker cluster. Mention that control-plane components can run on dedicated nodes or as Pods themselves (in managed clouds).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capabilities turn Kubernetes from an orchestrator into a platform substrate. The platform team curates these patterns for the organisation.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is often the biggest concern for production adoption. Position DevSecOps as shifting security left without shifting all responsibility onto developers.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Shifting left does not mean dumping security tools on developers without support. Platform teams should integrate scanners into pipelines and offer remediation guidance.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each stage. Emphasise that 'Operate' includes runtime threat detection and vulnerability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as code turns audit cycles from panic events into everyday assurance. Demonstrate that policy can reject a deployment before it reaches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practices become platform defaults: every team inherits them by using the golden path, but can still opt out with documented justification.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is not about zero incidents; it is about understanding and controlling systems well enough to recover quickly.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each pillar. Metrics show trends, logs show details, traces show causality across services. The real value is asking new questions without deploying new code.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engineering asks: 'How reliable does this need to be for our users, and what are we willing to pay for that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mitigation can be a rollback or feature-flag disable; resolution fixes the root cause. Postmortems are learning opportunities, not blame sessions.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culture punishes people for incidents, information will be hidden and learning will stop. Safety is the prerequisite for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 days convert incident response from theory into muscle memory. In the lab version the saboteur stops or pauses the payment container; responders must notice the symptom (orders report payment unavailable), localise it via Prometheus targets and rates, confirm with logs, recover, and write a 5-line postmortem. Emphasise the discipline of using only the telemetry: if the tools cannot answer the question in the lab, they will not answer it at 3 a.m. either.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brings together culture and platform thinking. A platform is only valuable if developers choose to use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team treats internal developers as customers. Capabilities are productised: documentation, APIs, CLI, templates and support.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Platform adoption is voluntary in practice. If the platform is harder than the alternative, teams will bypass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ROI conversations are essential for platform funding. Combine hard metrics with qualitative stories of teams shipping faster or sleeping through incidents.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module is the capstone. Participants tie together everything from both days into one end-to-end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participants that the capstone is not about finishing first; it is about seeing how the pieces fit together. Encourage pairing.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mirrors real platform engineering work: building paved roads that abstract complexity while preserving safety.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deliberately: recap what was built, hand participants a learning roadmap, and make the first week back at work concrete.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list slowly - this is the payoff slide. Every item ran on the participant's own VM and every artifact is in the course repository they keep. Invite one or two participants to say which lab changed how they think about their current 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keep the slides, the labs and the sample application - everything reruns on any Ubuntu 24.04 machine via lab-setup/install-ubuntu24.sh. Encourage them to re-run the capstone from scratch within two weeks; retention comes from the second unaided repetition.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commitments: ask each participant to write down the one action they will take in the first week and share it with the room. Hand out the feedback survey, answer final questions, and run the Day 2 quiz if not already done.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2 — Containers, Security, Observability &amp; Platform Thinking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6</a:t>
            </a:r>
            <a:br/>
            <a:r>
              <a:t>Microservices and Containerization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Microservices Architecture</a:t>
            </a:r>
          </a:p>
        </p:txBody>
      </p:sp>
      <p:sp>
        <p:nvSpPr>
          <p:cNvPr id="3" name="Content Placeholder 2"/>
          <p:cNvSpPr>
            <a:spLocks noGrp="1"/>
          </p:cNvSpPr>
          <p:nvPr>
            <p:ph idx="1"/>
          </p:nvPr>
        </p:nvSpPr>
        <p:spPr/>
        <p:txBody>
          <a:bodyPr/>
          <a:lstStyle/>
          <a:p>
            <a:pPr>
              <a:defRPr sz="2000">
                <a:solidFill>
                  <a:srgbClr val="333333"/>
                </a:solidFill>
                <a:latin typeface="Calibri"/>
              </a:defRPr>
            </a:pPr>
            <a:r>
              <a:t>Services are small, independently deployable and model bounded business contexts.</a:t>
            </a:r>
          </a:p>
          <a:p>
            <a:pPr>
              <a:defRPr sz="2000">
                <a:solidFill>
                  <a:srgbClr val="333333"/>
                </a:solidFill>
                <a:latin typeface="Calibri"/>
              </a:defRPr>
            </a:pPr>
            <a:r>
              <a:t>Benefits: team autonomy, polyglot technology, independent scaling, faster releases.</a:t>
            </a:r>
          </a:p>
          <a:p>
            <a:pPr>
              <a:defRPr sz="2000">
                <a:solidFill>
                  <a:srgbClr val="333333"/>
                </a:solidFill>
                <a:latin typeface="Calibri"/>
              </a:defRPr>
            </a:pPr>
            <a:r>
              <a:t>Costs: distributed-system complexity, network latency, data consistency challenges.</a:t>
            </a:r>
          </a:p>
          <a:p>
            <a:pPr>
              <a:defRPr sz="2000">
                <a:solidFill>
                  <a:srgbClr val="333333"/>
                </a:solidFill>
                <a:latin typeface="Calibri"/>
              </a:defRPr>
            </a:pPr>
            <a:r>
              <a:t>Use microservices when the organisational and scaling benefits outweigh the overhead.</a:t>
            </a:r>
          </a:p>
          <a:p>
            <a:pPr>
              <a:defRPr sz="2000">
                <a:solidFill>
                  <a:srgbClr val="333333"/>
                </a:solidFill>
                <a:latin typeface="Calibri"/>
              </a:defRPr>
            </a:pPr>
            <a:r>
              <a:t>Monolith-first is still a valid, often recommended, starting point.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Monolith vs Microservices</a:t>
            </a:r>
          </a:p>
        </p:txBody>
      </p:sp>
      <p:pic>
        <p:nvPicPr>
          <p:cNvPr id="4" name="Picture 3" descr="05-monolith-vs-microservices.png"/>
          <p:cNvPicPr>
            <a:picLocks noChangeAspect="1"/>
          </p:cNvPicPr>
          <p:nvPr/>
        </p:nvPicPr>
        <p:blipFill>
          <a:blip r:embed="rId2"/>
          <a:stretch>
            <a:fillRect/>
          </a:stretch>
        </p:blipFill>
        <p:spPr>
          <a:xfrm>
            <a:off x="914400" y="1097280"/>
            <a:ext cx="7315200" cy="4373991"/>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Microservices trade deployment independence for operational complexity.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Containerization with Docker</a:t>
            </a:r>
          </a:p>
        </p:txBody>
      </p:sp>
      <p:sp>
        <p:nvSpPr>
          <p:cNvPr id="3" name="Content Placeholder 2"/>
          <p:cNvSpPr>
            <a:spLocks noGrp="1"/>
          </p:cNvSpPr>
          <p:nvPr>
            <p:ph idx="1"/>
          </p:nvPr>
        </p:nvSpPr>
        <p:spPr/>
        <p:txBody>
          <a:bodyPr/>
          <a:lstStyle/>
          <a:p>
            <a:pPr>
              <a:defRPr sz="2000">
                <a:solidFill>
                  <a:srgbClr val="333333"/>
                </a:solidFill>
                <a:latin typeface="Calibri"/>
              </a:defRPr>
            </a:pPr>
            <a:r>
              <a:t>Containers package an application plus its dependencies into a portable image.</a:t>
            </a:r>
          </a:p>
          <a:p>
            <a:pPr>
              <a:defRPr sz="2000">
                <a:solidFill>
                  <a:srgbClr val="333333"/>
                </a:solidFill>
                <a:latin typeface="Calibri"/>
              </a:defRPr>
            </a:pPr>
            <a:r>
              <a:t>Images are layered and immutable; containers are runtime instances.</a:t>
            </a:r>
          </a:p>
          <a:p>
            <a:pPr>
              <a:defRPr sz="2000">
                <a:solidFill>
                  <a:srgbClr val="333333"/>
                </a:solidFill>
                <a:latin typeface="Calibri"/>
              </a:defRPr>
            </a:pPr>
            <a:r>
              <a:t>Dockerfile best practices: small base images, multi-stage builds, non-root users, health checks.</a:t>
            </a:r>
          </a:p>
          <a:p>
            <a:pPr>
              <a:defRPr sz="2000">
                <a:solidFill>
                  <a:srgbClr val="333333"/>
                </a:solidFill>
                <a:latin typeface="Calibri"/>
              </a:defRPr>
            </a:pPr>
            <a:r>
              <a:t>Images belong in a registry; tags tie them to versions and pipelines.</a:t>
            </a:r>
          </a:p>
          <a:p>
            <a:pPr>
              <a:defRPr sz="2000">
                <a:solidFill>
                  <a:srgbClr val="333333"/>
                </a:solidFill>
                <a:latin typeface="Calibri"/>
              </a:defRPr>
            </a:pPr>
            <a:r>
              <a:t>Docker Compose orchestrates multiple containers on a single host.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Kubernetes Fundamentals</a:t>
            </a:r>
          </a:p>
        </p:txBody>
      </p:sp>
      <p:sp>
        <p:nvSpPr>
          <p:cNvPr id="3" name="Content Placeholder 2"/>
          <p:cNvSpPr>
            <a:spLocks noGrp="1"/>
          </p:cNvSpPr>
          <p:nvPr>
            <p:ph idx="1"/>
          </p:nvPr>
        </p:nvSpPr>
        <p:spPr/>
        <p:txBody>
          <a:bodyPr/>
          <a:lstStyle/>
          <a:p>
            <a:pPr>
              <a:defRPr sz="2000">
                <a:solidFill>
                  <a:srgbClr val="333333"/>
                </a:solidFill>
                <a:latin typeface="Calibri"/>
              </a:defRPr>
            </a:pPr>
            <a:r>
              <a:t>Kubernetes automates deployment, scaling and management of containerised applications.</a:t>
            </a:r>
          </a:p>
          <a:p>
            <a:pPr>
              <a:defRPr sz="2000">
                <a:solidFill>
                  <a:srgbClr val="333333"/>
                </a:solidFill>
                <a:latin typeface="Calibri"/>
              </a:defRPr>
            </a:pPr>
            <a:r>
              <a:t>Control plane: API server, etcd, scheduler, controller manager.</a:t>
            </a:r>
          </a:p>
          <a:p>
            <a:pPr>
              <a:defRPr sz="2000">
                <a:solidFill>
                  <a:srgbClr val="333333"/>
                </a:solidFill>
                <a:latin typeface="Calibri"/>
              </a:defRPr>
            </a:pPr>
            <a:r>
              <a:t>Worker nodes run kubelet, kube-proxy and Pods (one or more containers).</a:t>
            </a:r>
          </a:p>
          <a:p>
            <a:pPr>
              <a:defRPr sz="2000">
                <a:solidFill>
                  <a:srgbClr val="333333"/>
                </a:solidFill>
                <a:latin typeface="Calibri"/>
              </a:defRPr>
            </a:pPr>
            <a:r>
              <a:t>Key resources: Deployment, Service, ConfigMap, Secret, Ingress, Namespace.</a:t>
            </a:r>
          </a:p>
          <a:p>
            <a:pPr>
              <a:defRPr sz="2000">
                <a:solidFill>
                  <a:srgbClr val="333333"/>
                </a:solidFill>
                <a:latin typeface="Calibri"/>
              </a:defRPr>
            </a:pPr>
            <a:r>
              <a:t>Declarative YAML manifests are stored in Git and applied by CI/CD or GitOps agents.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Kubernetes Architecture</a:t>
            </a:r>
          </a:p>
        </p:txBody>
      </p:sp>
      <p:pic>
        <p:nvPicPr>
          <p:cNvPr id="4" name="Picture 3" descr="04-kubernetes-architecture.png"/>
          <p:cNvPicPr>
            <a:picLocks noChangeAspect="1"/>
          </p:cNvPicPr>
          <p:nvPr/>
        </p:nvPicPr>
        <p:blipFill>
          <a:blip r:embed="rId2"/>
          <a:stretch>
            <a:fillRect/>
          </a:stretch>
        </p:blipFill>
        <p:spPr>
          <a:xfrm>
            <a:off x="914400" y="1097280"/>
            <a:ext cx="7315200" cy="450748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Control plane manages desired state; worker nodes run Pods.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Managing Services at Scale</a:t>
            </a:r>
          </a:p>
        </p:txBody>
      </p:sp>
      <p:sp>
        <p:nvSpPr>
          <p:cNvPr id="3" name="Content Placeholder 2"/>
          <p:cNvSpPr>
            <a:spLocks noGrp="1"/>
          </p:cNvSpPr>
          <p:nvPr>
            <p:ph idx="1"/>
          </p:nvPr>
        </p:nvSpPr>
        <p:spPr/>
        <p:txBody>
          <a:bodyPr/>
          <a:lstStyle/>
          <a:p>
            <a:pPr>
              <a:defRPr sz="2000">
                <a:solidFill>
                  <a:srgbClr val="333333"/>
                </a:solidFill>
                <a:latin typeface="Calibri"/>
              </a:defRPr>
            </a:pPr>
            <a:r>
              <a:t>Service discovery and load balancing are built in via Services and DNS.</a:t>
            </a:r>
          </a:p>
          <a:p>
            <a:pPr>
              <a:defRPr sz="2000">
                <a:solidFill>
                  <a:srgbClr val="333333"/>
                </a:solidFill>
                <a:latin typeface="Calibri"/>
              </a:defRPr>
            </a:pPr>
            <a:r>
              <a:t>Horizontal Pod Autoscaling adjusts replicas based on CPU, memory or custom metrics.</a:t>
            </a:r>
          </a:p>
          <a:p>
            <a:pPr>
              <a:defRPr sz="2000">
                <a:solidFill>
                  <a:srgbClr val="333333"/>
                </a:solidFill>
                <a:latin typeface="Calibri"/>
              </a:defRPr>
            </a:pPr>
            <a:r>
              <a:t>Rolling updates and rollbacks reduce deployment risk.</a:t>
            </a:r>
          </a:p>
          <a:p>
            <a:pPr>
              <a:defRPr sz="2000">
                <a:solidFill>
                  <a:srgbClr val="333333"/>
                </a:solidFill>
                <a:latin typeface="Calibri"/>
              </a:defRPr>
            </a:pPr>
            <a:r>
              <a:t>Resource requests and limits prevent noisy neighbours.</a:t>
            </a:r>
          </a:p>
          <a:p>
            <a:pPr>
              <a:defRPr sz="2000">
                <a:solidFill>
                  <a:srgbClr val="333333"/>
                </a:solidFill>
                <a:latin typeface="Calibri"/>
              </a:defRPr>
            </a:pPr>
            <a:r>
              <a:t>Namespaces isolate environments and teams on a shared cluster.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7</a:t>
            </a:r>
            <a:br/>
            <a:r>
              <a:t>Security and Compliance (DevSecOps)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DevSecOps: Security in the Pipeline</a:t>
            </a:r>
          </a:p>
        </p:txBody>
      </p:sp>
      <p:sp>
        <p:nvSpPr>
          <p:cNvPr id="3" name="Content Placeholder 2"/>
          <p:cNvSpPr>
            <a:spLocks noGrp="1"/>
          </p:cNvSpPr>
          <p:nvPr>
            <p:ph idx="1"/>
          </p:nvPr>
        </p:nvSpPr>
        <p:spPr/>
        <p:txBody>
          <a:bodyPr/>
          <a:lstStyle/>
          <a:p>
            <a:pPr>
              <a:defRPr sz="2000">
                <a:solidFill>
                  <a:srgbClr val="333333"/>
                </a:solidFill>
                <a:latin typeface="Calibri"/>
              </a:defRPr>
            </a:pPr>
            <a:r>
              <a:t>Security is everyone's responsibility, not a final checkpoint.</a:t>
            </a:r>
          </a:p>
          <a:p>
            <a:pPr>
              <a:defRPr sz="2000">
                <a:solidFill>
                  <a:srgbClr val="333333"/>
                </a:solidFill>
                <a:latin typeface="Calibri"/>
              </a:defRPr>
            </a:pPr>
            <a:r>
              <a:t>Shift left: detect vulnerabilities as early as possible, when they are cheapest to fix.</a:t>
            </a:r>
          </a:p>
          <a:p>
            <a:pPr>
              <a:defRPr sz="2000">
                <a:solidFill>
                  <a:srgbClr val="333333"/>
                </a:solidFill>
                <a:latin typeface="Calibri"/>
              </a:defRPr>
            </a:pPr>
            <a:r>
              <a:t>Automate scans: SAST, DAST, dependency, secrets, container image, IaC policy.</a:t>
            </a:r>
          </a:p>
          <a:p>
            <a:pPr>
              <a:defRPr sz="2000">
                <a:solidFill>
                  <a:srgbClr val="333333"/>
                </a:solidFill>
                <a:latin typeface="Calibri"/>
              </a:defRPr>
            </a:pPr>
            <a:r>
              <a:t>Provide fast, actionable feedback in the tools developers already use.</a:t>
            </a:r>
          </a:p>
          <a:p>
            <a:pPr>
              <a:defRPr sz="2000">
                <a:solidFill>
                  <a:srgbClr val="333333"/>
                </a:solidFill>
                <a:latin typeface="Calibri"/>
              </a:defRPr>
            </a:pPr>
            <a:r>
              <a:t>Maintain an audit trail through versioned code, pipelines and signed artefacts.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Shifting Security Left</a:t>
            </a:r>
          </a:p>
        </p:txBody>
      </p:sp>
      <p:pic>
        <p:nvPicPr>
          <p:cNvPr id="4" name="Picture 3" descr="07-devsecops-shift-left.png"/>
          <p:cNvPicPr>
            <a:picLocks noChangeAspect="1"/>
          </p:cNvPicPr>
          <p:nvPr/>
        </p:nvPicPr>
        <p:blipFill>
          <a:blip r:embed="rId2"/>
          <a:stretch>
            <a:fillRect/>
          </a:stretch>
        </p:blipFill>
        <p:spPr>
          <a:xfrm>
            <a:off x="914400" y="1097280"/>
            <a:ext cx="7315200" cy="36131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Security gates at every lifecycle stage, not just before production.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Compliance as Code</a:t>
            </a:r>
          </a:p>
        </p:txBody>
      </p:sp>
      <p:sp>
        <p:nvSpPr>
          <p:cNvPr id="3" name="Content Placeholder 2"/>
          <p:cNvSpPr>
            <a:spLocks noGrp="1"/>
          </p:cNvSpPr>
          <p:nvPr>
            <p:ph idx="1"/>
          </p:nvPr>
        </p:nvSpPr>
        <p:spPr/>
        <p:txBody>
          <a:bodyPr/>
          <a:lstStyle/>
          <a:p>
            <a:pPr>
              <a:defRPr sz="2000">
                <a:solidFill>
                  <a:srgbClr val="333333"/>
                </a:solidFill>
                <a:latin typeface="Calibri"/>
              </a:defRPr>
            </a:pPr>
            <a:r>
              <a:t>Encode compliance rules in version-controlled policy definitions.</a:t>
            </a:r>
          </a:p>
          <a:p>
            <a:pPr>
              <a:defRPr sz="2000">
                <a:solidFill>
                  <a:srgbClr val="333333"/>
                </a:solidFill>
                <a:latin typeface="Calibri"/>
              </a:defRPr>
            </a:pPr>
            <a:r>
              <a:t>Examples: CIS benchmarks, SOC 2 controls, GDPR data-handling rules.</a:t>
            </a:r>
          </a:p>
          <a:p>
            <a:pPr>
              <a:defRPr sz="2000">
                <a:solidFill>
                  <a:srgbClr val="333333"/>
                </a:solidFill>
                <a:latin typeface="Calibri"/>
              </a:defRPr>
            </a:pPr>
            <a:r>
              <a:t>Tools: Open Policy Agent (OPA), Checkov, Terraform Sentinel, Falco.</a:t>
            </a:r>
          </a:p>
          <a:p>
            <a:pPr>
              <a:defRPr sz="2000">
                <a:solidFill>
                  <a:srgbClr val="333333"/>
                </a:solidFill>
                <a:latin typeface="Calibri"/>
              </a:defRPr>
            </a:pPr>
            <a:r>
              <a:t>Policy is evaluated automatically in CI/CD, in admission control and at runtime.</a:t>
            </a:r>
          </a:p>
          <a:p>
            <a:pPr>
              <a:defRPr sz="2000">
                <a:solidFill>
                  <a:srgbClr val="333333"/>
                </a:solidFill>
                <a:latin typeface="Calibri"/>
              </a:defRPr>
            </a:pPr>
            <a:r>
              <a:t>Evidence is generated continuously, making audits easier and less manual.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Security Best Practices for Platform Engineering</a:t>
            </a:r>
          </a:p>
        </p:txBody>
      </p:sp>
      <p:sp>
        <p:nvSpPr>
          <p:cNvPr id="3" name="Content Placeholder 2"/>
          <p:cNvSpPr>
            <a:spLocks noGrp="1"/>
          </p:cNvSpPr>
          <p:nvPr>
            <p:ph idx="1"/>
          </p:nvPr>
        </p:nvSpPr>
        <p:spPr/>
        <p:txBody>
          <a:bodyPr/>
          <a:lstStyle/>
          <a:p>
            <a:pPr>
              <a:defRPr sz="2000">
                <a:solidFill>
                  <a:srgbClr val="333333"/>
                </a:solidFill>
                <a:latin typeface="Calibri"/>
              </a:defRPr>
            </a:pPr>
            <a:r>
              <a:t>Least privilege: narrow RBAC, no shared admin credentials, short-lived tokens.</a:t>
            </a:r>
          </a:p>
          <a:p>
            <a:pPr>
              <a:defRPr sz="2000">
                <a:solidFill>
                  <a:srgbClr val="333333"/>
                </a:solidFill>
                <a:latin typeface="Calibri"/>
              </a:defRPr>
            </a:pPr>
            <a:r>
              <a:t>Secrets management: Vault, cloud KMS, Kubernetes External Secrets — never commit secrets.</a:t>
            </a:r>
          </a:p>
          <a:p>
            <a:pPr>
              <a:defRPr sz="2000">
                <a:solidFill>
                  <a:srgbClr val="333333"/>
                </a:solidFill>
                <a:latin typeface="Calibri"/>
              </a:defRPr>
            </a:pPr>
            <a:r>
              <a:t>Immutable images: scan, sign and promote images through environments.</a:t>
            </a:r>
          </a:p>
          <a:p>
            <a:pPr>
              <a:defRPr sz="2000">
                <a:solidFill>
                  <a:srgbClr val="333333"/>
                </a:solidFill>
                <a:latin typeface="Calibri"/>
              </a:defRPr>
            </a:pPr>
            <a:r>
              <a:t>Network segmentation: policies, service mesh mTLS, egress controls.</a:t>
            </a:r>
          </a:p>
          <a:p>
            <a:pPr>
              <a:defRPr sz="2000">
                <a:solidFill>
                  <a:srgbClr val="333333"/>
                </a:solidFill>
                <a:latin typeface="Calibri"/>
              </a:defRPr>
            </a:pPr>
            <a:r>
              <a:t>Supply chain security: SBOMs, signed commits, dependency pinning.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8</a:t>
            </a:r>
            <a:br/>
            <a:r>
              <a:t>Observability and Reliability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Three Pillars of Observability</a:t>
            </a:r>
          </a:p>
        </p:txBody>
      </p:sp>
      <p:pic>
        <p:nvPicPr>
          <p:cNvPr id="4" name="Picture 3" descr="06-observability-pillars.png"/>
          <p:cNvPicPr>
            <a:picLocks noChangeAspect="1"/>
          </p:cNvPicPr>
          <p:nvPr/>
        </p:nvPicPr>
        <p:blipFill>
          <a:blip r:embed="rId2"/>
          <a:stretch>
            <a:fillRect/>
          </a:stretch>
        </p:blipFill>
        <p:spPr>
          <a:xfrm>
            <a:off x="914400" y="1097280"/>
            <a:ext cx="7315200" cy="45757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Metrics, logs and traces answer different operational questions.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Ensuring System Reliability</a:t>
            </a:r>
          </a:p>
        </p:txBody>
      </p:sp>
      <p:sp>
        <p:nvSpPr>
          <p:cNvPr id="3" name="Content Placeholder 2"/>
          <p:cNvSpPr>
            <a:spLocks noGrp="1"/>
          </p:cNvSpPr>
          <p:nvPr>
            <p:ph idx="1"/>
          </p:nvPr>
        </p:nvSpPr>
        <p:spPr/>
        <p:txBody>
          <a:bodyPr/>
          <a:lstStyle/>
          <a:p>
            <a:pPr>
              <a:defRPr sz="2000">
                <a:solidFill>
                  <a:srgbClr val="333333"/>
                </a:solidFill>
                <a:latin typeface="Calibri"/>
              </a:defRPr>
            </a:pPr>
            <a:r>
              <a:t>Reliability is a feature, not an afterthought.</a:t>
            </a:r>
          </a:p>
          <a:p>
            <a:pPr>
              <a:defRPr sz="2000">
                <a:solidFill>
                  <a:srgbClr val="333333"/>
                </a:solidFill>
                <a:latin typeface="Calibri"/>
              </a:defRPr>
            </a:pPr>
            <a:r>
              <a:t>SLOs (Service Level Objectives) define acceptable reliability for user journeys.</a:t>
            </a:r>
          </a:p>
          <a:p>
            <a:pPr>
              <a:defRPr sz="2000">
                <a:solidFill>
                  <a:srgbClr val="333333"/>
                </a:solidFill>
                <a:latin typeface="Calibri"/>
              </a:defRPr>
            </a:pPr>
            <a:r>
              <a:t>SLIs measure it; error budgets balance innovation against stability.</a:t>
            </a:r>
          </a:p>
          <a:p>
            <a:pPr>
              <a:defRPr sz="2000">
                <a:solidFill>
                  <a:srgbClr val="333333"/>
                </a:solidFill>
                <a:latin typeface="Calibri"/>
              </a:defRPr>
            </a:pPr>
            <a:r>
              <a:t>Design for failure: retries, circuit breakers, bulkheads, graceful degradation.</a:t>
            </a:r>
          </a:p>
          <a:p>
            <a:pPr>
              <a:defRPr sz="2000">
                <a:solidFill>
                  <a:srgbClr val="333333"/>
                </a:solidFill>
                <a:latin typeface="Calibri"/>
              </a:defRPr>
            </a:pPr>
            <a:r>
              <a:t>Chaos engineering validates assumptions by injecting controlled failures.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Incident Response Lifecycle</a:t>
            </a:r>
          </a:p>
        </p:txBody>
      </p:sp>
      <p:pic>
        <p:nvPicPr>
          <p:cNvPr id="4" name="Picture 3" descr="10-incident-lifecycle.png"/>
          <p:cNvPicPr>
            <a:picLocks noChangeAspect="1"/>
          </p:cNvPicPr>
          <p:nvPr/>
        </p:nvPicPr>
        <p:blipFill>
          <a:blip r:embed="rId2"/>
          <a:stretch>
            <a:fillRect/>
          </a:stretch>
        </p:blipFill>
        <p:spPr>
          <a:xfrm>
            <a:off x="914400" y="1097280"/>
            <a:ext cx="7315200" cy="5439239"/>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Detect → Triage → Mitigate → Resolve → Postmortem → Remediate.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Postmortems and Learning</a:t>
            </a:r>
          </a:p>
        </p:txBody>
      </p:sp>
      <p:sp>
        <p:nvSpPr>
          <p:cNvPr id="3" name="Content Placeholder 2"/>
          <p:cNvSpPr>
            <a:spLocks noGrp="1"/>
          </p:cNvSpPr>
          <p:nvPr>
            <p:ph idx="1"/>
          </p:nvPr>
        </p:nvSpPr>
        <p:spPr/>
        <p:txBody>
          <a:bodyPr/>
          <a:lstStyle/>
          <a:p>
            <a:pPr>
              <a:defRPr sz="2000">
                <a:solidFill>
                  <a:srgbClr val="333333"/>
                </a:solidFill>
                <a:latin typeface="Calibri"/>
              </a:defRPr>
            </a:pPr>
            <a:r>
              <a:t>Blameless postmortems focus on system and process, not individual fault.</a:t>
            </a:r>
          </a:p>
          <a:p>
            <a:pPr>
              <a:defRPr sz="2000">
                <a:solidFill>
                  <a:srgbClr val="333333"/>
                </a:solidFill>
                <a:latin typeface="Calibri"/>
              </a:defRPr>
            </a:pPr>
            <a:r>
              <a:t>Capture timeline, impact, root causes, mitigations and action items.</a:t>
            </a:r>
          </a:p>
          <a:p>
            <a:pPr>
              <a:defRPr sz="2000">
                <a:solidFill>
                  <a:srgbClr val="333333"/>
                </a:solidFill>
                <a:latin typeface="Calibri"/>
              </a:defRPr>
            </a:pPr>
            <a:r>
              <a:t>Publish internally to spread learning and prevent recurrence.</a:t>
            </a:r>
          </a:p>
          <a:p>
            <a:pPr>
              <a:defRPr sz="2000">
                <a:solidFill>
                  <a:srgbClr val="333333"/>
                </a:solidFill>
                <a:latin typeface="Calibri"/>
              </a:defRPr>
            </a:pPr>
            <a:r>
              <a:t>Track action items like any other backlog work, with owners and due dates.</a:t>
            </a:r>
          </a:p>
          <a:p>
            <a:pPr>
              <a:defRPr sz="2000">
                <a:solidFill>
                  <a:srgbClr val="333333"/>
                </a:solidFill>
                <a:latin typeface="Calibri"/>
              </a:defRPr>
            </a:pPr>
            <a:r>
              <a:t>Celebrate the response as well as diagnosing the cause.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Game Days: Practise Before It Hurts</a:t>
            </a:r>
          </a:p>
        </p:txBody>
      </p:sp>
      <p:sp>
        <p:nvSpPr>
          <p:cNvPr id="3" name="Content Placeholder 2"/>
          <p:cNvSpPr>
            <a:spLocks noGrp="1"/>
          </p:cNvSpPr>
          <p:nvPr>
            <p:ph idx="1"/>
          </p:nvPr>
        </p:nvSpPr>
        <p:spPr/>
        <p:txBody>
          <a:bodyPr/>
          <a:lstStyle/>
          <a:p>
            <a:pPr>
              <a:defRPr sz="2000">
                <a:solidFill>
                  <a:srgbClr val="333333"/>
                </a:solidFill>
                <a:latin typeface="Calibri"/>
              </a:defRPr>
            </a:pPr>
            <a:r>
              <a:t>A game day is a rehearsed incident: someone breaks a system on purpose.</a:t>
            </a:r>
          </a:p>
          <a:p>
            <a:pPr>
              <a:defRPr sz="2000">
                <a:solidFill>
                  <a:srgbClr val="333333"/>
                </a:solidFill>
                <a:latin typeface="Calibri"/>
              </a:defRPr>
            </a:pPr>
            <a:r>
              <a:t>Responders use only their observability tools - no peeking at the cause.</a:t>
            </a:r>
          </a:p>
          <a:p>
            <a:pPr>
              <a:defRPr sz="2000">
                <a:solidFill>
                  <a:srgbClr val="333333"/>
                </a:solidFill>
                <a:latin typeface="Calibri"/>
              </a:defRPr>
            </a:pPr>
            <a:r>
              <a:t>Measures the real MTTD and MTTR of your tooling and your team.</a:t>
            </a:r>
          </a:p>
          <a:p>
            <a:pPr>
              <a:defRPr sz="2000">
                <a:solidFill>
                  <a:srgbClr val="333333"/>
                </a:solidFill>
                <a:latin typeface="Calibri"/>
              </a:defRPr>
            </a:pPr>
            <a:r>
              <a:t>Ends with the same blameless postmortem as a real incident.</a:t>
            </a:r>
          </a:p>
          <a:p>
            <a:pPr>
              <a:defRPr sz="2000">
                <a:solidFill>
                  <a:srgbClr val="333333"/>
                </a:solidFill>
                <a:latin typeface="Calibri"/>
              </a:defRPr>
            </a:pPr>
            <a:r>
              <a:t>Lab 08 Part G: your neighbour stops the payment service - find it, fix it, write it up.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9</a:t>
            </a:r>
            <a:br/>
            <a:r>
              <a:t>Platform as a Product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Platform as a Product</a:t>
            </a:r>
          </a:p>
        </p:txBody>
      </p:sp>
      <p:pic>
        <p:nvPicPr>
          <p:cNvPr id="4" name="Picture 3" descr="08-platform-as-product.png"/>
          <p:cNvPicPr>
            <a:picLocks noChangeAspect="1"/>
          </p:cNvPicPr>
          <p:nvPr/>
        </p:nvPicPr>
        <p:blipFill>
          <a:blip r:embed="rId2"/>
          <a:stretch>
            <a:fillRect/>
          </a:stretch>
        </p:blipFill>
        <p:spPr>
          <a:xfrm>
            <a:off x="914400" y="1097280"/>
            <a:ext cx="7315200" cy="433270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self-service internal platform accelerates stream-aligned teams.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User-Centric Design for Internal Platforms</a:t>
            </a:r>
          </a:p>
        </p:txBody>
      </p:sp>
      <p:sp>
        <p:nvSpPr>
          <p:cNvPr id="3" name="Content Placeholder 2"/>
          <p:cNvSpPr>
            <a:spLocks noGrp="1"/>
          </p:cNvSpPr>
          <p:nvPr>
            <p:ph idx="1"/>
          </p:nvPr>
        </p:nvSpPr>
        <p:spPr/>
        <p:txBody>
          <a:bodyPr/>
          <a:lstStyle/>
          <a:p>
            <a:pPr>
              <a:defRPr sz="2000">
                <a:solidFill>
                  <a:srgbClr val="333333"/>
                </a:solidFill>
                <a:latin typeface="Calibri"/>
              </a:defRPr>
            </a:pPr>
            <a:r>
              <a:t>Interview teams, map developer journeys and identify pain points.</a:t>
            </a:r>
          </a:p>
          <a:p>
            <a:pPr>
              <a:defRPr sz="2000">
                <a:solidFill>
                  <a:srgbClr val="333333"/>
                </a:solidFill>
                <a:latin typeface="Calibri"/>
              </a:defRPr>
            </a:pPr>
            <a:r>
              <a:t>Build golden paths: the easiest way to do the right thing.</a:t>
            </a:r>
          </a:p>
          <a:p>
            <a:pPr>
              <a:defRPr sz="2000">
                <a:solidFill>
                  <a:srgbClr val="333333"/>
                </a:solidFill>
                <a:latin typeface="Calibri"/>
              </a:defRPr>
            </a:pPr>
            <a:r>
              <a:t>Provide clear documentation, runnable samples and sensible defaults.</a:t>
            </a:r>
          </a:p>
          <a:p>
            <a:pPr>
              <a:defRPr sz="2000">
                <a:solidFill>
                  <a:srgbClr val="333333"/>
                </a:solidFill>
                <a:latin typeface="Calibri"/>
              </a:defRPr>
            </a:pPr>
            <a:r>
              <a:t>Offer an escape hatch for edge cases, with documented guard rails.</a:t>
            </a:r>
          </a:p>
          <a:p>
            <a:pPr>
              <a:defRPr sz="2000">
                <a:solidFill>
                  <a:srgbClr val="333333"/>
                </a:solidFill>
                <a:latin typeface="Calibri"/>
              </a:defRPr>
            </a:pPr>
            <a:r>
              <a:t>Measure developer experience (DevEx) with surveys and usage metrics.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Measuring Success and ROI</a:t>
            </a:r>
          </a:p>
        </p:txBody>
      </p:sp>
      <p:sp>
        <p:nvSpPr>
          <p:cNvPr id="3" name="Content Placeholder 2"/>
          <p:cNvSpPr>
            <a:spLocks noGrp="1"/>
          </p:cNvSpPr>
          <p:nvPr>
            <p:ph idx="1"/>
          </p:nvPr>
        </p:nvSpPr>
        <p:spPr/>
        <p:txBody>
          <a:bodyPr/>
          <a:lstStyle/>
          <a:p>
            <a:pPr>
              <a:defRPr sz="2000">
                <a:solidFill>
                  <a:srgbClr val="333333"/>
                </a:solidFill>
                <a:latin typeface="Calibri"/>
              </a:defRPr>
            </a:pPr>
            <a:r>
              <a:t>Outcome metrics: lead time, deployment frequency, change failure rate, MTTR.</a:t>
            </a:r>
          </a:p>
          <a:p>
            <a:pPr>
              <a:defRPr sz="2000">
                <a:solidFill>
                  <a:srgbClr val="333333"/>
                </a:solidFill>
                <a:latin typeface="Calibri"/>
              </a:defRPr>
            </a:pPr>
            <a:r>
              <a:t>Platform metrics: adoption rate, time-to-first-service, support tickets, uptime.</a:t>
            </a:r>
          </a:p>
          <a:p>
            <a:pPr>
              <a:defRPr sz="2000">
                <a:solidFill>
                  <a:srgbClr val="333333"/>
                </a:solidFill>
                <a:latin typeface="Calibri"/>
              </a:defRPr>
            </a:pPr>
            <a:r>
              <a:t>Developer experience: NPS-style surveys, cognitive-load assessments.</a:t>
            </a:r>
          </a:p>
          <a:p>
            <a:pPr>
              <a:defRPr sz="2000">
                <a:solidFill>
                  <a:srgbClr val="333333"/>
                </a:solidFill>
                <a:latin typeface="Calibri"/>
              </a:defRPr>
            </a:pPr>
            <a:r>
              <a:t>Cost metrics: cloud spend efficiency, toil hours avoided.</a:t>
            </a:r>
          </a:p>
          <a:p>
            <a:pPr>
              <a:defRPr sz="2000">
                <a:solidFill>
                  <a:srgbClr val="333333"/>
                </a:solidFill>
                <a:latin typeface="Calibri"/>
              </a:defRPr>
            </a:pPr>
            <a:r>
              <a:t>Tell the story: connect platform improvements to business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10</a:t>
            </a:r>
            <a:br/>
            <a:r>
              <a:t>Hands-On Workshops &amp; Capstone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Workshop Objectives</a:t>
            </a:r>
          </a:p>
        </p:txBody>
      </p:sp>
      <p:sp>
        <p:nvSpPr>
          <p:cNvPr id="3" name="Content Placeholder 2"/>
          <p:cNvSpPr>
            <a:spLocks noGrp="1"/>
          </p:cNvSpPr>
          <p:nvPr>
            <p:ph idx="1"/>
          </p:nvPr>
        </p:nvSpPr>
        <p:spPr/>
        <p:txBody>
          <a:bodyPr/>
          <a:lstStyle/>
          <a:p>
            <a:pPr>
              <a:defRPr sz="2000">
                <a:solidFill>
                  <a:srgbClr val="333333"/>
                </a:solidFill>
                <a:latin typeface="Calibri"/>
              </a:defRPr>
            </a:pPr>
            <a:r>
              <a:t>Set up a basic DevOps pipeline that builds, tests and publishes a container image.</a:t>
            </a:r>
          </a:p>
          <a:p>
            <a:pPr>
              <a:defRPr sz="2000">
                <a:solidFill>
                  <a:srgbClr val="333333"/>
                </a:solidFill>
                <a:latin typeface="Calibri"/>
              </a:defRPr>
            </a:pPr>
            <a:r>
              <a:t>Build and deploy a microservice locally and to Kubernetes.</a:t>
            </a:r>
          </a:p>
          <a:p>
            <a:pPr>
              <a:defRPr sz="2000">
                <a:solidFill>
                  <a:srgbClr val="333333"/>
                </a:solidFill>
                <a:latin typeface="Calibri"/>
              </a:defRPr>
            </a:pPr>
            <a:r>
              <a:t>Implement IaC for cloud-style infrastructure using Terraform.</a:t>
            </a:r>
          </a:p>
          <a:p>
            <a:pPr>
              <a:defRPr sz="2000">
                <a:solidFill>
                  <a:srgbClr val="333333"/>
                </a:solidFill>
                <a:latin typeface="Calibri"/>
              </a:defRPr>
            </a:pPr>
            <a:r>
              <a:t>Add security scanning and observability hooks.</a:t>
            </a:r>
          </a:p>
          <a:p>
            <a:pPr>
              <a:defRPr sz="2000">
                <a:solidFill>
                  <a:srgbClr val="333333"/>
                </a:solidFill>
                <a:latin typeface="Calibri"/>
              </a:defRPr>
            </a:pPr>
            <a:r>
              <a:t>Experience the 'golden path' that a platform team provides.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Capstone Scenario</a:t>
            </a:r>
          </a:p>
        </p:txBody>
      </p:sp>
      <p:sp>
        <p:nvSpPr>
          <p:cNvPr id="3" name="Content Placeholder 2"/>
          <p:cNvSpPr>
            <a:spLocks noGrp="1"/>
          </p:cNvSpPr>
          <p:nvPr>
            <p:ph idx="1"/>
          </p:nvPr>
        </p:nvSpPr>
        <p:spPr/>
        <p:txBody>
          <a:bodyPr/>
          <a:lstStyle/>
          <a:p>
            <a:pPr>
              <a:defRPr sz="2000">
                <a:solidFill>
                  <a:srgbClr val="333333"/>
                </a:solidFill>
                <a:latin typeface="Calibri"/>
              </a:defRPr>
            </a:pPr>
            <a:r>
              <a:t>You are the platform team enabling a stream-aligned order-processing squad.</a:t>
            </a:r>
          </a:p>
          <a:p>
            <a:pPr>
              <a:defRPr sz="2000">
                <a:solidFill>
                  <a:srgbClr val="333333"/>
                </a:solidFill>
                <a:latin typeface="Calibri"/>
              </a:defRPr>
            </a:pPr>
            <a:r>
              <a:t>Provide a GitHub Actions workflow, Terraform module and Kubernetes manifests.</a:t>
            </a:r>
          </a:p>
          <a:p>
            <a:pPr>
              <a:defRPr sz="2000">
                <a:solidFill>
                  <a:srgbClr val="333333"/>
                </a:solidFill>
                <a:latin typeface="Calibri"/>
              </a:defRPr>
            </a:pPr>
            <a:r>
              <a:t>A developer commits code; the pipeline builds, scans, plans and deploys automatically.</a:t>
            </a:r>
          </a:p>
          <a:p>
            <a:pPr>
              <a:defRPr sz="2000">
                <a:solidFill>
                  <a:srgbClr val="333333"/>
                </a:solidFill>
                <a:latin typeface="Calibri"/>
              </a:defRPr>
            </a:pPr>
            <a:r>
              <a:t>Prometheus monitors the service; an SLO is defined and visible in Grafana.</a:t>
            </a:r>
          </a:p>
          <a:p>
            <a:pPr>
              <a:defRPr sz="2000">
                <a:solidFill>
                  <a:srgbClr val="333333"/>
                </a:solidFill>
                <a:latin typeface="Calibri"/>
              </a:defRPr>
            </a:pPr>
            <a:r>
              <a:t>Document the internal platform offering so other teams can self-serve.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0"/>
            <a:ext cx="8229600" cy="1828800"/>
          </a:xfrm>
          <a:prstGeom prst="rect">
            <a:avLst/>
          </a:prstGeom>
          <a:noFill/>
        </p:spPr>
        <p:txBody>
          <a:bodyPr wrap="none">
            <a:spAutoFit/>
          </a:bodyPr>
          <a:lstStyle/>
          <a:p>
            <a:pPr algn="ctr"/>
            <a:r>
              <a:rPr sz="4400" b="1">
                <a:solidFill>
                  <a:srgbClr val="4A90D9"/>
                </a:solidFill>
                <a:latin typeface="Calibri"/>
              </a:rPr>
              <a:t>Module 11</a:t>
            </a:r>
            <a:br/>
            <a:r>
              <a:t>Summary and Next Steps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You Built in Two Days</a:t>
            </a:r>
          </a:p>
        </p:txBody>
      </p:sp>
      <p:sp>
        <p:nvSpPr>
          <p:cNvPr id="3" name="Content Placeholder 2"/>
          <p:cNvSpPr>
            <a:spLocks noGrp="1"/>
          </p:cNvSpPr>
          <p:nvPr>
            <p:ph idx="1"/>
          </p:nvPr>
        </p:nvSpPr>
        <p:spPr/>
        <p:txBody>
          <a:bodyPr/>
          <a:lstStyle/>
          <a:p>
            <a:pPr>
              <a:defRPr sz="2000">
                <a:solidFill>
                  <a:srgbClr val="333333"/>
                </a:solidFill>
                <a:latin typeface="Calibri"/>
              </a:defRPr>
            </a:pPr>
            <a:r>
              <a:t>A microservice tested, containerised and orchestrated (Labs 00-03).</a:t>
            </a:r>
          </a:p>
          <a:p>
            <a:pPr>
              <a:defRPr sz="2000">
                <a:solidFill>
                  <a:srgbClr val="333333"/>
                </a:solidFill>
                <a:latin typeface="Calibri"/>
              </a:defRPr>
            </a:pPr>
            <a:r>
              <a:t>A CI pipeline with a real security gate (Lab 04).</a:t>
            </a:r>
          </a:p>
          <a:p>
            <a:pPr>
              <a:defRPr sz="2000">
                <a:solidFill>
                  <a:srgbClr val="333333"/>
                </a:solidFill>
                <a:latin typeface="Calibri"/>
              </a:defRPr>
            </a:pPr>
            <a:r>
              <a:t>Infrastructure declared as code, with drift detection (Lab 05).</a:t>
            </a:r>
          </a:p>
          <a:p>
            <a:pPr>
              <a:defRPr sz="2000">
                <a:solidFill>
                  <a:srgbClr val="333333"/>
                </a:solidFill>
                <a:latin typeface="Calibri"/>
              </a:defRPr>
            </a:pPr>
            <a:r>
              <a:t>A Kubernetes deployment with probes, limits and rolling updates (Lab 06).</a:t>
            </a:r>
          </a:p>
          <a:p>
            <a:pPr>
              <a:defRPr sz="2000">
                <a:solidFill>
                  <a:srgbClr val="333333"/>
                </a:solidFill>
                <a:latin typeface="Calibri"/>
              </a:defRPr>
            </a:pPr>
            <a:r>
              <a:t>Policies, scans, dashboards, an SLO - and one survived incident (Labs 07-08).</a:t>
            </a:r>
          </a:p>
          <a:p>
            <a:pPr>
              <a:defRPr sz="2000">
                <a:solidFill>
                  <a:srgbClr val="333333"/>
                </a:solidFill>
                <a:latin typeface="Calibri"/>
              </a:defRPr>
            </a:pPr>
            <a:r>
              <a:t>A golden path handed over as a platform product (Lab 09).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Continuing the Journey</a:t>
            </a:r>
          </a:p>
        </p:txBody>
      </p:sp>
      <p:sp>
        <p:nvSpPr>
          <p:cNvPr id="3" name="Content Placeholder 2"/>
          <p:cNvSpPr>
            <a:spLocks noGrp="1"/>
          </p:cNvSpPr>
          <p:nvPr>
            <p:ph idx="1"/>
          </p:nvPr>
        </p:nvSpPr>
        <p:spPr/>
        <p:txBody>
          <a:bodyPr/>
          <a:lstStyle/>
          <a:p>
            <a:pPr>
              <a:defRPr sz="2000">
                <a:solidFill>
                  <a:srgbClr val="333333"/>
                </a:solidFill>
                <a:latin typeface="Calibri"/>
              </a:defRPr>
            </a:pPr>
            <a:r>
              <a:t>Kubernetes: CKAD / CKA certifications; kind and minikube for practice.</a:t>
            </a:r>
          </a:p>
          <a:p>
            <a:pPr>
              <a:defRPr sz="2000">
                <a:solidFill>
                  <a:srgbClr val="333333"/>
                </a:solidFill>
                <a:latin typeface="Calibri"/>
              </a:defRPr>
            </a:pPr>
            <a:r>
              <a:t>IaC: HashiCorp Terraform Associate; Ansible for configuration management.</a:t>
            </a:r>
          </a:p>
          <a:p>
            <a:pPr>
              <a:defRPr sz="2000">
                <a:solidFill>
                  <a:srgbClr val="333333"/>
                </a:solidFill>
                <a:latin typeface="Calibri"/>
              </a:defRPr>
            </a:pPr>
            <a:r>
              <a:t>CI/CD: GitHub Actions docs and the 'act' local runner you already installed.</a:t>
            </a:r>
          </a:p>
          <a:p>
            <a:pPr>
              <a:defRPr sz="2000">
                <a:solidFill>
                  <a:srgbClr val="333333"/>
                </a:solidFill>
                <a:latin typeface="Calibri"/>
              </a:defRPr>
            </a:pPr>
            <a:r>
              <a:t>Reading: Accelerate (DORA), Team Topologies, the Google SRE books (free online).</a:t>
            </a:r>
          </a:p>
          <a:p>
            <a:pPr>
              <a:defRPr sz="2000">
                <a:solidFill>
                  <a:srgbClr val="333333"/>
                </a:solidFill>
                <a:latin typeface="Calibri"/>
              </a:defRPr>
            </a:pPr>
            <a:r>
              <a:t>Communities: platformengineering.org, CNCF projects, local DevOps meetups.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Your First Week Back at Work</a:t>
            </a:r>
          </a:p>
        </p:txBody>
      </p:sp>
      <p:sp>
        <p:nvSpPr>
          <p:cNvPr id="3" name="Content Placeholder 2"/>
          <p:cNvSpPr>
            <a:spLocks noGrp="1"/>
          </p:cNvSpPr>
          <p:nvPr>
            <p:ph idx="1"/>
          </p:nvPr>
        </p:nvSpPr>
        <p:spPr/>
        <p:txBody>
          <a:bodyPr/>
          <a:lstStyle/>
          <a:p>
            <a:pPr>
              <a:defRPr sz="2000">
                <a:solidFill>
                  <a:srgbClr val="333333"/>
                </a:solidFill>
                <a:latin typeface="Calibri"/>
              </a:defRPr>
            </a:pPr>
            <a:r>
              <a:t>Pick ONE painful manual path and automate it end to end - small and finished beats big and abandoned.</a:t>
            </a:r>
          </a:p>
          <a:p>
            <a:pPr>
              <a:defRPr sz="2000">
                <a:solidFill>
                  <a:srgbClr val="333333"/>
                </a:solidFill>
                <a:latin typeface="Calibri"/>
              </a:defRPr>
            </a:pPr>
            <a:r>
              <a:t>Add a real gate to an existing pipeline: tests or a fixable-critical scan.</a:t>
            </a:r>
          </a:p>
          <a:p>
            <a:pPr>
              <a:defRPr sz="2000">
                <a:solidFill>
                  <a:srgbClr val="333333"/>
                </a:solidFill>
                <a:latin typeface="Calibri"/>
              </a:defRPr>
            </a:pPr>
            <a:r>
              <a:t>Write the first blameless postmortem after your next incident - share it.</a:t>
            </a:r>
          </a:p>
          <a:p>
            <a:pPr>
              <a:defRPr sz="2000">
                <a:solidFill>
                  <a:srgbClr val="333333"/>
                </a:solidFill>
                <a:latin typeface="Calibri"/>
              </a:defRPr>
            </a:pPr>
            <a:r>
              <a:t>Measure a baseline: your team's deployment frequency and lead time this month.</a:t>
            </a:r>
          </a:p>
          <a:p>
            <a:pPr>
              <a:defRPr sz="2000">
                <a:solidFill>
                  <a:srgbClr val="333333"/>
                </a:solidFill>
                <a:latin typeface="Calibri"/>
              </a:defRPr>
            </a:pPr>
            <a:r>
              <a:t>Start the platform conversation: which golden path would help most teams?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