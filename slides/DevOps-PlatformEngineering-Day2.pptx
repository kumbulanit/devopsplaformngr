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participants. Explain that slides include detailed notes that also serve as the participant reference. Encourage questions and note-taking.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Day 2 is hands-on. Start with concepts, then move into Docker, Compose and Kubernetes labs. Keep slides concise enough to leave time for labs.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Avoid 'microservices are always better'. They solve organisational scaling problems as much as technical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out that each microservice owns its data and can be scaled, deployed and owned independently.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 to the sample app: one Dockerfile for the order service and another for the payment service, composed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try to cover every resource. Focus on the minimum viable mental model: desired state declared in YAML, reconciled by controllers.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diagram shows a four-worker cluster. Mention that control-plane components can run on dedicated nodes or as Pods themselves (in managed clouds).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capabilities turn Kubernetes from an orchestrator into a platform substrate. The platform team curates these patterns for the organisation.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Security is often the biggest concern for production adoption. Position DevSecOps as shifting security left without shifting all responsibility onto developers.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Shifting left does not mean dumping security tools on developers without support. Platform teams should integrate scanners into pipelines and offer remediation guidance.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each stage. Emphasise that 'Operate' includes runtime threat detection and vulnerability management.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Compliance as code turns audit cycles from panic events into everyday assurance. Demonstrate that policy can reject a deployment before it reaches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practices become platform defaults: every team inherits them by using the golden path, but can still opt out with documented justification.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Reliability is not about zero incidents; it is about understanding and controlling systems well enough to recover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each pillar. Metrics show trends, logs show details, traces show causality across services. The real value is asking new questions without deploying new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Reliability engineering asks: 'How reliable does this need to be for our users, and what are we willing to pay for that reliability?'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that mitigation can be a rollback or feature-flag disable; resolution fixes the root cause. Postmortems are learning opportunities, not blame sessions.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 culture punishes people for incidents, information will be hidden and learning will stop. Safety is the prerequisite for improvement.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module brings together culture and platform thinking. A platform is only valuable if developers choose to use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platform team treats internal developers as customers. Capabilities are productised: documentation, APIs, CLI, templates and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Platform adoption is voluntary in practice. If the platform is harder than the alternative, teams will bypass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ROI conversations are essential for platform funding. Combine hard metrics with qualitative stories of teams shipping faster or sleeping through incidents.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final module is the capstone. Participants tie together everything from both days into one end-to-end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Remind participants that the capstone is not about finishing first; it is about seeing how the pieces fit together. Encourage pairing.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scenario mirrors real platform engineering work: building paved roads that abstract complexity while preserving safety.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recommended reading, communities and a feedback survey. Leave time for Q&amp;A and certificate handover if applicable.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solidFill>
                  <a:srgbClr val="1A3C6C"/>
                </a:solidFill>
                <a:latin typeface="Calibri"/>
              </a:rPr>
              <a:t>DevOps &amp; Platform Engineering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333333"/>
                </a:solidFill>
                <a:latin typeface="Calibri"/>
              </a:rPr>
              <a:t>Day 2 — Containers, Security, Observability &amp; Platform Thinking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4A90D9"/>
                </a:solidFill>
                <a:latin typeface="Calibri"/>
              </a:rPr>
              <a:t>Module 6</a:t>
            </a:r>
            <a:br/>
            <a:r>
              <a:t>Microservices and Containerization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Microservices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Services are small, independently deployable and model bounded business contexts.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Benefits: team autonomy, polyglot technology, independent scaling, faster releases.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Costs: distributed-system complexity, network latency, data consistency challenges.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Use microservices when the organisational and scaling benefits outweigh the overhead.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Monolith-first is still a valid, often recommended, starting point.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C6C"/>
                </a:solidFill>
                <a:latin typeface="Calibri"/>
              </a:rPr>
              <a:t>Monolith vs Microservices</a:t>
            </a:r>
          </a:p>
        </p:txBody>
      </p:sp>
      <p:pic>
        <p:nvPicPr>
          <p:cNvPr id="4" name="Picture 3" descr="05-monolith-vs-microserv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7315200" cy="35010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43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333333"/>
                </a:solidFill>
                <a:latin typeface="Calibri"/>
              </a:rPr>
              <a:t>Microservices trade deployment independence for operational complexity.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Containerization with Docker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Containers package an application plus its dependencies into a portable image.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Images are layered and immutable; containers are runtime instances.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Dockerfile best practices: small base images, multi-stage builds, non-root users, health checks.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Images belong in a registry; tags tie them to versions and pipelines.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Docker Compose orchestrates multiple containers on a single host.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Kubernetes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Kubernetes automates deployment, scaling and management of containerised applications.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Control plane: API server, etcd, scheduler, controller manager.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Worker nodes run kubelet, kube-proxy and Pods (one or more containers).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Key resources: Deployment, Service, ConfigMap, Secret, Ingress, Namespace.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Declarative YAML manifests are stored in Git and applied by CI/CD or GitOps agents.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C6C"/>
                </a:solidFill>
                <a:latin typeface="Calibri"/>
              </a:rPr>
              <a:t>Kubernetes Architecture</a:t>
            </a:r>
          </a:p>
        </p:txBody>
      </p:sp>
      <p:pic>
        <p:nvPicPr>
          <p:cNvPr id="4" name="Picture 3" descr="04-kubernetes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7315200" cy="43685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43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333333"/>
                </a:solidFill>
                <a:latin typeface="Calibri"/>
              </a:rPr>
              <a:t>Control plane manages desired state; worker nodes run Pods.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Managing Services at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Service discovery and load balancing are built in via Services and DNS.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Horizontal Pod Autoscaling adjusts replicas based on CPU, memory or custom metrics.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Rolling updates and rollbacks reduce deployment risk.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Resource requests and limits prevent noisy neighbours.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Namespaces isolate environments and teams on a shared cluster.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4A90D9"/>
                </a:solidFill>
                <a:latin typeface="Calibri"/>
              </a:rPr>
              <a:t>Module 7</a:t>
            </a:r>
            <a:br/>
            <a:r>
              <a:t>Security and Compliance (DevSecOps)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DevSecOps: Security in the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Security is everyone's responsibility, not a final checkpoint.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Shift left: detect vulnerabilities as early as possible, when they are cheapest to fix.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Automate scans: SAST, DAST, dependency, secrets, container image, IaC policy.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Provide fast, actionable feedback in the tools developers already use.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Maintain an audit trail through versioned code, pipelines and signed artefacts.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C6C"/>
                </a:solidFill>
                <a:latin typeface="Calibri"/>
              </a:rPr>
              <a:t>Shifting Security Left</a:t>
            </a:r>
          </a:p>
        </p:txBody>
      </p:sp>
      <p:pic>
        <p:nvPicPr>
          <p:cNvPr id="4" name="Picture 3" descr="07-devsecops-shift-le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7315200" cy="31827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43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333333"/>
                </a:solidFill>
                <a:latin typeface="Calibri"/>
              </a:rPr>
              <a:t>Security gates at every lifecycle stage, not just before production.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Compliance as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Encode compliance rules in version-controlled policy definitions.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Examples: CIS benchmarks, SOC 2 controls, GDPR data-handling rules.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Tools: Open Policy Agent (OPA), Checkov, Terraform Sentinel, Falco.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Policy is evaluated automatically in CI/CD, in admission control and at runtime.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Evidence is generated continuously, making audits easier and less manual.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Security Best Practices for Platform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Least privilege: narrow RBAC, no shared admin credentials, short-lived tokens.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Secrets management: Vault, cloud KMS, Kubernetes External Secrets — never commit secrets.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Immutable images: scan, sign and promote images through environments.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Network segmentation: policies, service mesh mTLS, egress controls.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Supply chain security: SBOMs, signed commits, dependency pinning.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4A90D9"/>
                </a:solidFill>
                <a:latin typeface="Calibri"/>
              </a:rPr>
              <a:t>Module 8</a:t>
            </a:r>
            <a:br/>
            <a:r>
              <a:t>Observability and Reliability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C6C"/>
                </a:solidFill>
                <a:latin typeface="Calibri"/>
              </a:rPr>
              <a:t>The Three Pillars of Observability</a:t>
            </a:r>
          </a:p>
        </p:txBody>
      </p:sp>
      <p:pic>
        <p:nvPicPr>
          <p:cNvPr id="4" name="Picture 3" descr="06-observability-pill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7315200" cy="48665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43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333333"/>
                </a:solidFill>
                <a:latin typeface="Calibri"/>
              </a:rPr>
              <a:t>Metrics, logs and traces answer different operational questions.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Ensuring System Reliability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Reliability is a feature, not an afterthought.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SLOs (Service Level Objectives) define acceptable reliability for user journeys.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SLIs measure it; error budgets balance innovation against stability.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Design for failure: retries, circuit breakers, bulkheads, graceful degradation.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Chaos engineering validates assumptions by injecting controlled failures.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C6C"/>
                </a:solidFill>
                <a:latin typeface="Calibri"/>
              </a:rPr>
              <a:t>Incident Response Lifecycle</a:t>
            </a:r>
          </a:p>
        </p:txBody>
      </p:sp>
      <p:pic>
        <p:nvPicPr>
          <p:cNvPr id="4" name="Picture 3" descr="10-incident-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7315200" cy="44922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43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333333"/>
                </a:solidFill>
                <a:latin typeface="Calibri"/>
              </a:rPr>
              <a:t>Detect → Triage → Mitigate → Resolve → Postmortem → Remediate.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Postmortems and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Blameless postmortems focus on system and process, not individual fault.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Capture timeline, impact, root causes, mitigations and action items.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Publish internally to spread learning and prevent recurrence.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Track action items like any other backlog work, with owners and due dates.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Celebrate the response as well as diagnosing the cause.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4A90D9"/>
                </a:solidFill>
                <a:latin typeface="Calibri"/>
              </a:rPr>
              <a:t>Module 9</a:t>
            </a:r>
            <a:br/>
            <a:r>
              <a:t>Platform as a Product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C6C"/>
                </a:solidFill>
                <a:latin typeface="Calibri"/>
              </a:rPr>
              <a:t>Platform as a Product</a:t>
            </a:r>
          </a:p>
        </p:txBody>
      </p:sp>
      <p:pic>
        <p:nvPicPr>
          <p:cNvPr id="4" name="Picture 3" descr="08-platform-as-produ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7315200" cy="44126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43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333333"/>
                </a:solidFill>
                <a:latin typeface="Calibri"/>
              </a:rPr>
              <a:t>A self-service internal platform accelerates stream-aligned teams.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User-Centric Design for Internal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Interview teams, map developer journeys and identify pain points.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Build golden paths: the easiest way to do the right thing.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Provide clear documentation, runnable samples and sensible defaults.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Offer an escape hatch for edge cases, with documented guard rails.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Measure developer experience (DevEx) with surveys and usage metrics.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Measuring Success and ROI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Outcome metrics: lead time, deployment frequency, change failure rate, MTTR.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Platform metrics: adoption rate, time-to-first-service, support tickets, uptime.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Developer experience: NPS-style surveys, cognitive-load assessments.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Cost metrics: cloud spend efficiency, toil hours avoided.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Tell the story: connect platform improvements to business value.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4A90D9"/>
                </a:solidFill>
                <a:latin typeface="Calibri"/>
              </a:rPr>
              <a:t>Module 10</a:t>
            </a:r>
            <a:br/>
            <a:r>
              <a:t>Hands-On Workshops &amp; Capstone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Workshop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Set up a basic DevOps pipeline that builds, tests and publishes a container image.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Build and deploy a microservice locally and to Kubernetes.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Implement IaC for cloud-style infrastructure using Terraform.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Add security scanning and observability hooks.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Experience the 'golden path' that a platform team provides.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Capstone Scenario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You are the platform team enabling a stream-aligned order-processing squad.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Provide a GitHub Actions workflow, Terraform module and Kubernetes manifests.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A developer commits code; the pipeline builds, scans, plans and deploys automatically.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Prometheus monitors the service; an SLO is defined and visible in Grafana.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Document the internal platform offering so other teams can self-serve.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Course Summary &amp;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DevOps is culture + practices; platform engineering scales it through self-service.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IaC, CI/CD, containers, security, observability and product thinking are the foundations.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Start small: automate one painful path, measure it, then expand.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Invest in reliability, learning and developer experience.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Continue learning: DORA reports, Team Topologies, Platform Engineering books.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4E79"/>
                </a:solidFill>
              </a:defRPr>
            </a:pPr>
            <a:r>
              <a:t>Deep Dive 6 — Containers and Compose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F4F4F"/>
                </a:solidFill>
              </a:defRPr>
            </a:pPr>
            <a:r>
              <a:t>Package once, run consistently across environments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Example: the order service and payment service are built from separate Dockerfiles and tested locally with docker compose.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A multi-stage Dockerfile keeps the runtime image small and avoids shipping toolchains that are not needed in production.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Compose helps developers bring up dependent services, environment variables and networks with one command.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The image registry becomes the hand-off point between development, CI and deployment.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This reduces drift and makes the local environment closer to production.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1325880"/>
            <a:ext cx="4297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Example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508760" cy="822960"/>
          </a:xfrm>
          <a:prstGeom prst="roundRect">
            <a:avLst/>
          </a:prstGeom>
          <a:solidFill>
            <a:srgbClr val="E6F2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Build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5740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94560" y="1645920"/>
            <a:ext cx="1508760" cy="822960"/>
          </a:xfrm>
          <a:prstGeom prst="roundRect">
            <a:avLst/>
          </a:prstGeom>
          <a:solidFill>
            <a:srgbClr val="E8F5E9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6771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Compose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0332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40480" y="1645920"/>
            <a:ext cx="1508760" cy="822960"/>
          </a:xfrm>
          <a:prstGeom prst="roundRect">
            <a:avLst/>
          </a:prstGeom>
          <a:solidFill>
            <a:srgbClr val="FDF2D4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Test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4924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0" y="1645920"/>
            <a:ext cx="1508760" cy="822960"/>
          </a:xfrm>
          <a:prstGeom prst="roundRect">
            <a:avLst/>
          </a:prstGeom>
          <a:solidFill>
            <a:srgbClr val="F3E8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Registry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99516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32320" y="1645920"/>
            <a:ext cx="1508760" cy="822960"/>
          </a:xfrm>
          <a:prstGeom prst="roundRect">
            <a:avLst/>
          </a:prstGeom>
          <a:solidFill>
            <a:srgbClr val="FDE2E8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0547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Deploy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0" y="1828800"/>
            <a:ext cx="4480560" cy="2011680"/>
          </a:xfrm>
          <a:prstGeom prst="roundRect">
            <a:avLst/>
          </a:prstGeom>
          <a:solidFill>
            <a:srgbClr val="D9EBF7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42432" y="1901952"/>
            <a:ext cx="4334256" cy="1865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How this helps the team</a:t>
            </a:r>
            <a:br/>
            <a:br/>
            <a:r>
              <a:t>The workflow becomes easier to explain, easier to automate and easier to improve.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4E79"/>
                </a:solidFill>
              </a:defRPr>
            </a:pPr>
            <a:r>
              <a:t>Deep Dive 7 — Kubernetes in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F4F4F"/>
                </a:solidFill>
              </a:defRPr>
            </a:pPr>
            <a:r>
              <a:t>Declarative YAML and controllers turn intent into running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Example: a Deployment manages replicas, rolling updates and health checks for the order service.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A Service exposes the pods through stable DNS, while an Ingress handles external routes and TLS termination.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ConfigMaps and Secrets keep environment-specific values out of the image and enable safer rotations.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Namespaces let teams isolate workloads on a shared cluster while still using the same platform services.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The platform team can standardise these manifests and give developers a golden path.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1325880"/>
            <a:ext cx="4297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Example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508760" cy="822960"/>
          </a:xfrm>
          <a:prstGeom prst="roundRect">
            <a:avLst/>
          </a:prstGeom>
          <a:solidFill>
            <a:srgbClr val="E6F2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Manifest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5740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94560" y="1645920"/>
            <a:ext cx="1508760" cy="822960"/>
          </a:xfrm>
          <a:prstGeom prst="roundRect">
            <a:avLst/>
          </a:prstGeom>
          <a:solidFill>
            <a:srgbClr val="E8F5E9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6771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Apply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0332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40480" y="1645920"/>
            <a:ext cx="1508760" cy="822960"/>
          </a:xfrm>
          <a:prstGeom prst="roundRect">
            <a:avLst/>
          </a:prstGeom>
          <a:solidFill>
            <a:srgbClr val="FDF2D4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4924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0" y="1645920"/>
            <a:ext cx="1508760" cy="822960"/>
          </a:xfrm>
          <a:prstGeom prst="roundRect">
            <a:avLst/>
          </a:prstGeom>
          <a:solidFill>
            <a:srgbClr val="F3E8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Service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99516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32320" y="1645920"/>
            <a:ext cx="1508760" cy="822960"/>
          </a:xfrm>
          <a:prstGeom prst="roundRect">
            <a:avLst/>
          </a:prstGeom>
          <a:solidFill>
            <a:srgbClr val="FDE2E8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0547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Scale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0" y="1828800"/>
            <a:ext cx="4480560" cy="2011680"/>
          </a:xfrm>
          <a:prstGeom prst="roundRect">
            <a:avLst/>
          </a:prstGeom>
          <a:solidFill>
            <a:srgbClr val="D9EBF7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42432" y="1901952"/>
            <a:ext cx="4334256" cy="1865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How this helps the team</a:t>
            </a:r>
            <a:br/>
            <a:br/>
            <a:r>
              <a:t>The workflow becomes easier to explain, easier to automate and easier to improve.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4E79"/>
                </a:solidFill>
              </a:defRPr>
            </a:pPr>
            <a:r>
              <a:t>Deep Dive 8 — DevSecOps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F4F4F"/>
                </a:solidFill>
              </a:defRPr>
            </a:pPr>
            <a:r>
              <a:t>Security becomes part of the release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Example: every commit runs a secret scan, dependency scan and container image scan before deployment.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Policies can block insecure images, enforce least privilege and require evidence before promotion.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Signed images and SBOMs make supply chain integrity visible and auditable.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Security checks are fast feedback loops, not a final gate at the end of the project.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This shifts security left while preserving speed for the delivery teams.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1325880"/>
            <a:ext cx="4297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Example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508760" cy="822960"/>
          </a:xfrm>
          <a:prstGeom prst="roundRect">
            <a:avLst/>
          </a:prstGeom>
          <a:solidFill>
            <a:srgbClr val="E6F2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Scan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5740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94560" y="1645920"/>
            <a:ext cx="1508760" cy="822960"/>
          </a:xfrm>
          <a:prstGeom prst="roundRect">
            <a:avLst/>
          </a:prstGeom>
          <a:solidFill>
            <a:srgbClr val="E8F5E9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6771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Gate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0332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40480" y="1645920"/>
            <a:ext cx="1508760" cy="822960"/>
          </a:xfrm>
          <a:prstGeom prst="roundRect">
            <a:avLst/>
          </a:prstGeom>
          <a:solidFill>
            <a:srgbClr val="FDF2D4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Sign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4924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0" y="1645920"/>
            <a:ext cx="1508760" cy="822960"/>
          </a:xfrm>
          <a:prstGeom prst="roundRect">
            <a:avLst/>
          </a:prstGeom>
          <a:solidFill>
            <a:srgbClr val="F3E8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Deploy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99516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32320" y="1645920"/>
            <a:ext cx="1508760" cy="822960"/>
          </a:xfrm>
          <a:prstGeom prst="roundRect">
            <a:avLst/>
          </a:prstGeom>
          <a:solidFill>
            <a:srgbClr val="FDE2E8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0547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Audit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0" y="1828800"/>
            <a:ext cx="4480560" cy="2011680"/>
          </a:xfrm>
          <a:prstGeom prst="roundRect">
            <a:avLst/>
          </a:prstGeom>
          <a:solidFill>
            <a:srgbClr val="D9EBF7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42432" y="1901952"/>
            <a:ext cx="4334256" cy="1865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How this helps the team</a:t>
            </a:r>
            <a:br/>
            <a:br/>
            <a:r>
              <a:t>The workflow becomes easier to explain, easier to automate and easier to improve.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4E79"/>
                </a:solidFill>
              </a:defRPr>
            </a:pPr>
            <a:r>
              <a:t>Deep Dive 9 — Observability and reliability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F4F4F"/>
                </a:solidFill>
              </a:defRPr>
            </a:pPr>
            <a:r>
              <a:t>Your platform should answer what broke, why and how fast it is recovering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Example: Prometheus collects metrics, Grafana visualises them and logs/traces explain the request path.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SLOs and SLIs help the team define what reliability means for the user journey, not just for the server.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Error budgets create a shared decision framework for balancing delivery velocity and stability.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Alerts should route to runbooks, and dashboards should lead to action instead of just noise.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Reliability engineering is a product discipline that protects trust and user experience.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1325880"/>
            <a:ext cx="4297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Example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508760" cy="822960"/>
          </a:xfrm>
          <a:prstGeom prst="roundRect">
            <a:avLst/>
          </a:prstGeom>
          <a:solidFill>
            <a:srgbClr val="E6F2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Collect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5740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94560" y="1645920"/>
            <a:ext cx="1508760" cy="822960"/>
          </a:xfrm>
          <a:prstGeom prst="roundRect">
            <a:avLst/>
          </a:prstGeom>
          <a:solidFill>
            <a:srgbClr val="E8F5E9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6771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Visualise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0332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40480" y="1645920"/>
            <a:ext cx="1508760" cy="822960"/>
          </a:xfrm>
          <a:prstGeom prst="roundRect">
            <a:avLst/>
          </a:prstGeom>
          <a:solidFill>
            <a:srgbClr val="FDF2D4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Alert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4924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0" y="1645920"/>
            <a:ext cx="1508760" cy="822960"/>
          </a:xfrm>
          <a:prstGeom prst="roundRect">
            <a:avLst/>
          </a:prstGeom>
          <a:solidFill>
            <a:srgbClr val="F3E8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Mitigate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99516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32320" y="1645920"/>
            <a:ext cx="1508760" cy="822960"/>
          </a:xfrm>
          <a:prstGeom prst="roundRect">
            <a:avLst/>
          </a:prstGeom>
          <a:solidFill>
            <a:srgbClr val="FDE2E8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0547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Learn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0" y="1828800"/>
            <a:ext cx="4480560" cy="2011680"/>
          </a:xfrm>
          <a:prstGeom prst="roundRect">
            <a:avLst/>
          </a:prstGeom>
          <a:solidFill>
            <a:srgbClr val="D9EBF7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42432" y="1901952"/>
            <a:ext cx="4334256" cy="1865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How this helps the team</a:t>
            </a:r>
            <a:br/>
            <a:br/>
            <a:r>
              <a:t>The workflow becomes easier to explain, easier to automate and easier to improve.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4E79"/>
                </a:solidFill>
              </a:defRPr>
            </a:pPr>
            <a:r>
              <a:t>Deep Dive 10 — Platform as a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F4F4F"/>
                </a:solidFill>
              </a:defRPr>
            </a:pPr>
            <a:r>
              <a:t>A great internal platform removes friction and keeps teams moving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Example: a developer clicks a self-service button to provision a new environment with a template, pipeline and monitoring.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The platform team interviews users, measures adoption and prioritises the workflows that create the most value.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Golden paths make the right behaviour easy, while guardrails keep the platform safe and consistent.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The best platforms get better from feedback loops, usage telemetry and common service templates.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This turns infrastructure from a bottleneck into an accelerant for the business.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1325880"/>
            <a:ext cx="4297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Example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508760" cy="822960"/>
          </a:xfrm>
          <a:prstGeom prst="roundRect">
            <a:avLst/>
          </a:prstGeom>
          <a:solidFill>
            <a:srgbClr val="E6F2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Discover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5740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94560" y="1645920"/>
            <a:ext cx="1508760" cy="822960"/>
          </a:xfrm>
          <a:prstGeom prst="roundRect">
            <a:avLst/>
          </a:prstGeom>
          <a:solidFill>
            <a:srgbClr val="E8F5E9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6771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Template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0332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40480" y="1645920"/>
            <a:ext cx="1508760" cy="822960"/>
          </a:xfrm>
          <a:prstGeom prst="roundRect">
            <a:avLst/>
          </a:prstGeom>
          <a:solidFill>
            <a:srgbClr val="FDF2D4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Deploy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4924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0" y="1645920"/>
            <a:ext cx="1508760" cy="822960"/>
          </a:xfrm>
          <a:prstGeom prst="roundRect">
            <a:avLst/>
          </a:prstGeom>
          <a:solidFill>
            <a:srgbClr val="F3E8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Measure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99516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32320" y="1645920"/>
            <a:ext cx="1508760" cy="822960"/>
          </a:xfrm>
          <a:prstGeom prst="roundRect">
            <a:avLst/>
          </a:prstGeom>
          <a:solidFill>
            <a:srgbClr val="FDE2E8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0547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Improve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0" y="1828800"/>
            <a:ext cx="4480560" cy="2011680"/>
          </a:xfrm>
          <a:prstGeom prst="roundRect">
            <a:avLst/>
          </a:prstGeom>
          <a:solidFill>
            <a:srgbClr val="D9EBF7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42432" y="1901952"/>
            <a:ext cx="4334256" cy="1865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How this helps the team</a:t>
            </a:r>
            <a:br/>
            <a:br/>
            <a:r>
              <a:t>The workflow becomes easier to explain, easier to automate and easier to improve.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4E79"/>
                </a:solidFill>
              </a:defRPr>
            </a:pPr>
            <a:r>
              <a:t>Day 2 recap — From tools to operating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F4F4F"/>
                </a:solidFill>
              </a:defRPr>
            </a:pPr>
            <a:r>
              <a:t>The real outcome is a faster, safer and more reliable delivery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Use containers and Kubernetes to make deployment portable and repeatable.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Make security and observability part of the pipeline from the beginning, not as afterthoughts.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Treat the platform as a product and improve it with real user feedback and measurable outcomes.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Ensure every change has a path to verify, roll back and learn from the result.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The most mature teams combine technical excellence with strong operating habits.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1325880"/>
            <a:ext cx="4297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Example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508760" cy="822960"/>
          </a:xfrm>
          <a:prstGeom prst="roundRect">
            <a:avLst/>
          </a:prstGeom>
          <a:solidFill>
            <a:srgbClr val="E6F2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Automate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5740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94560" y="1645920"/>
            <a:ext cx="1508760" cy="822960"/>
          </a:xfrm>
          <a:prstGeom prst="roundRect">
            <a:avLst/>
          </a:prstGeom>
          <a:solidFill>
            <a:srgbClr val="E8F5E9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6771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Secure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0332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40480" y="1645920"/>
            <a:ext cx="1508760" cy="822960"/>
          </a:xfrm>
          <a:prstGeom prst="roundRect">
            <a:avLst/>
          </a:prstGeom>
          <a:solidFill>
            <a:srgbClr val="FDF2D4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Observe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4924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0" y="1645920"/>
            <a:ext cx="1508760" cy="822960"/>
          </a:xfrm>
          <a:prstGeom prst="roundRect">
            <a:avLst/>
          </a:prstGeom>
          <a:solidFill>
            <a:srgbClr val="F3E8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Scale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0" y="1828800"/>
            <a:ext cx="4480560" cy="2011680"/>
          </a:xfrm>
          <a:prstGeom prst="roundRect">
            <a:avLst/>
          </a:prstGeom>
          <a:solidFill>
            <a:srgbClr val="D9EBF7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42432" y="1901952"/>
            <a:ext cx="4334256" cy="1865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How this helps the team</a:t>
            </a:r>
            <a:br/>
            <a:br/>
            <a:r>
              <a:t>The workflow becomes easier to explain, easier to automate and easier to improve.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4E79"/>
                </a:solidFill>
              </a:defRPr>
            </a:pPr>
            <a:r>
              <a:t>Deep Dive 6 — Containers and Compose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F4F4F"/>
                </a:solidFill>
              </a:defRPr>
            </a:pPr>
            <a:r>
              <a:t>Package once, run consistently across environments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Example: the order service and payment service are built from separate Dockerfiles and tested locally with docker compose.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A multi-stage Dockerfile keeps the runtime image small and avoids shipping toolchains that are not needed in production.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Compose helps developers bring up dependent services, environment variables and networks with one command.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The image registry becomes the hand-off point between development, CI and deployment.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This reduces drift and makes the local environment closer to production.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Containers make dependency management explicit, which is a major benefit for teams that want repeatable environments.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The same image can be promoted from local to CI to staging to production, provided the runtime contract stays stable.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1325880"/>
            <a:ext cx="4297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Example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508760" cy="822960"/>
          </a:xfrm>
          <a:prstGeom prst="roundRect">
            <a:avLst/>
          </a:prstGeom>
          <a:solidFill>
            <a:srgbClr val="E6F2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Build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5740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94560" y="1645920"/>
            <a:ext cx="1508760" cy="822960"/>
          </a:xfrm>
          <a:prstGeom prst="roundRect">
            <a:avLst/>
          </a:prstGeom>
          <a:solidFill>
            <a:srgbClr val="E8F5E9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6771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Compose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0332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40480" y="1645920"/>
            <a:ext cx="1508760" cy="822960"/>
          </a:xfrm>
          <a:prstGeom prst="roundRect">
            <a:avLst/>
          </a:prstGeom>
          <a:solidFill>
            <a:srgbClr val="FDF2D4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Test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4924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0" y="1645920"/>
            <a:ext cx="1508760" cy="822960"/>
          </a:xfrm>
          <a:prstGeom prst="roundRect">
            <a:avLst/>
          </a:prstGeom>
          <a:solidFill>
            <a:srgbClr val="F3E8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Registry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99516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32320" y="1645920"/>
            <a:ext cx="1508760" cy="822960"/>
          </a:xfrm>
          <a:prstGeom prst="roundRect">
            <a:avLst/>
          </a:prstGeom>
          <a:solidFill>
            <a:srgbClr val="FDE2E8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0547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Deploy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0" y="1828800"/>
            <a:ext cx="4480560" cy="2011680"/>
          </a:xfrm>
          <a:prstGeom prst="roundRect">
            <a:avLst/>
          </a:prstGeom>
          <a:solidFill>
            <a:srgbClr val="D9EBF7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42432" y="1901952"/>
            <a:ext cx="4334256" cy="1865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How this helps the team</a:t>
            </a:r>
            <a:br/>
            <a:br/>
            <a:r>
              <a:t>The workflow becomes easier to explain, easier to automate and easier to improve.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4E79"/>
                </a:solidFill>
              </a:defRPr>
            </a:pPr>
            <a:r>
              <a:t>Deep Dive 7 — Kubernetes in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F4F4F"/>
                </a:solidFill>
              </a:defRPr>
            </a:pPr>
            <a:r>
              <a:t>Declarative YAML and controllers turn intent into running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Example: a Deployment manages replicas, rolling updates and health checks for the order service.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A Service exposes the pods through stable DNS, while an Ingress handles external routes and TLS termination.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ConfigMaps and Secrets keep environment-specific values out of the image and enable safer rotations.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Namespaces let teams isolate workloads on a shared cluster while still using the same platform services.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The platform team can standardise these manifests and give developers a golden path.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Kubernetes lets platform teams define desired state once and let the control plane reconcile it continuously.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The result is more standardisation, but it requires a clear operating model for rollouts, upgrades and troubleshooting.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1325880"/>
            <a:ext cx="4297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Example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508760" cy="822960"/>
          </a:xfrm>
          <a:prstGeom prst="roundRect">
            <a:avLst/>
          </a:prstGeom>
          <a:solidFill>
            <a:srgbClr val="E6F2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Manifest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5740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94560" y="1645920"/>
            <a:ext cx="1508760" cy="822960"/>
          </a:xfrm>
          <a:prstGeom prst="roundRect">
            <a:avLst/>
          </a:prstGeom>
          <a:solidFill>
            <a:srgbClr val="E8F5E9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6771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Apply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0332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40480" y="1645920"/>
            <a:ext cx="1508760" cy="822960"/>
          </a:xfrm>
          <a:prstGeom prst="roundRect">
            <a:avLst/>
          </a:prstGeom>
          <a:solidFill>
            <a:srgbClr val="FDF2D4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4924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0" y="1645920"/>
            <a:ext cx="1508760" cy="822960"/>
          </a:xfrm>
          <a:prstGeom prst="roundRect">
            <a:avLst/>
          </a:prstGeom>
          <a:solidFill>
            <a:srgbClr val="F3E8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Service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99516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32320" y="1645920"/>
            <a:ext cx="1508760" cy="822960"/>
          </a:xfrm>
          <a:prstGeom prst="roundRect">
            <a:avLst/>
          </a:prstGeom>
          <a:solidFill>
            <a:srgbClr val="FDE2E8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0547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Scale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0" y="1828800"/>
            <a:ext cx="4480560" cy="2011680"/>
          </a:xfrm>
          <a:prstGeom prst="roundRect">
            <a:avLst/>
          </a:prstGeom>
          <a:solidFill>
            <a:srgbClr val="D9EBF7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42432" y="1901952"/>
            <a:ext cx="4334256" cy="1865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How this helps the team</a:t>
            </a:r>
            <a:br/>
            <a:br/>
            <a:r>
              <a:t>The workflow becomes easier to explain, easier to automate and easier to improve.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4E79"/>
                </a:solidFill>
              </a:defRPr>
            </a:pPr>
            <a:r>
              <a:t>Deep Dive 8 — DevSecOps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F4F4F"/>
                </a:solidFill>
              </a:defRPr>
            </a:pPr>
            <a:r>
              <a:t>Security becomes part of the release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Example: every commit runs a secret scan, dependency scan and container image scan before deployment.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Policies can block insecure images, enforce least privilege and require evidence before promotion.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Signed images and SBOMs make supply chain integrity visible and auditable.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Security checks are fast feedback loops, not a final gate at the end of the project.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This shifts security left while preserving speed for the delivery teams.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Platform teams usually pair policy-as-code with developer guidance so security remains an enabler rather than a blocker.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Every control should have a clear owner, a clear signal and a clear remediation path.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1325880"/>
            <a:ext cx="4297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Example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508760" cy="822960"/>
          </a:xfrm>
          <a:prstGeom prst="roundRect">
            <a:avLst/>
          </a:prstGeom>
          <a:solidFill>
            <a:srgbClr val="E6F2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Scan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5740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94560" y="1645920"/>
            <a:ext cx="1508760" cy="822960"/>
          </a:xfrm>
          <a:prstGeom prst="roundRect">
            <a:avLst/>
          </a:prstGeom>
          <a:solidFill>
            <a:srgbClr val="E8F5E9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6771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Gate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0332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40480" y="1645920"/>
            <a:ext cx="1508760" cy="822960"/>
          </a:xfrm>
          <a:prstGeom prst="roundRect">
            <a:avLst/>
          </a:prstGeom>
          <a:solidFill>
            <a:srgbClr val="FDF2D4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Sign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4924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0" y="1645920"/>
            <a:ext cx="1508760" cy="822960"/>
          </a:xfrm>
          <a:prstGeom prst="roundRect">
            <a:avLst/>
          </a:prstGeom>
          <a:solidFill>
            <a:srgbClr val="F3E8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Deploy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99516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32320" y="1645920"/>
            <a:ext cx="1508760" cy="822960"/>
          </a:xfrm>
          <a:prstGeom prst="roundRect">
            <a:avLst/>
          </a:prstGeom>
          <a:solidFill>
            <a:srgbClr val="FDE2E8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0547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Audit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0" y="1828800"/>
            <a:ext cx="4480560" cy="2011680"/>
          </a:xfrm>
          <a:prstGeom prst="roundRect">
            <a:avLst/>
          </a:prstGeom>
          <a:solidFill>
            <a:srgbClr val="D9EBF7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42432" y="1901952"/>
            <a:ext cx="4334256" cy="1865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How this helps the team</a:t>
            </a:r>
            <a:br/>
            <a:br/>
            <a:r>
              <a:t>The workflow becomes easier to explain, easier to automate and easier to improve.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4E79"/>
                </a:solidFill>
              </a:defRPr>
            </a:pPr>
            <a:r>
              <a:t>Deep Dive 9 — Observability and reliability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F4F4F"/>
                </a:solidFill>
              </a:defRPr>
            </a:pPr>
            <a:r>
              <a:t>Your platform should answer what broke, why and how fast it is recovering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Example: Prometheus collects metrics, Grafana visualises them and logs/traces explain the request path.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SLOs and SLIs help the team define what reliability means for the user journey, not just for the server.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Error budgets create a shared decision framework for balancing delivery velocity and stability.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Alerts should route to runbooks, and dashboards should lead to action instead of just noise.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Reliability engineering is a product discipline that protects trust and user experience.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When services fail, the most valuable signals are often the ones that explain the impact quickly and accurately.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Reliable systems are often designed around small, well-understood failure domains instead of heroic recovery.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1325880"/>
            <a:ext cx="4297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Example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508760" cy="822960"/>
          </a:xfrm>
          <a:prstGeom prst="roundRect">
            <a:avLst/>
          </a:prstGeom>
          <a:solidFill>
            <a:srgbClr val="E6F2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Collect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5740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94560" y="1645920"/>
            <a:ext cx="1508760" cy="822960"/>
          </a:xfrm>
          <a:prstGeom prst="roundRect">
            <a:avLst/>
          </a:prstGeom>
          <a:solidFill>
            <a:srgbClr val="E8F5E9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6771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Visualise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0332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40480" y="1645920"/>
            <a:ext cx="1508760" cy="822960"/>
          </a:xfrm>
          <a:prstGeom prst="roundRect">
            <a:avLst/>
          </a:prstGeom>
          <a:solidFill>
            <a:srgbClr val="FDF2D4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Alert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4924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0" y="1645920"/>
            <a:ext cx="1508760" cy="822960"/>
          </a:xfrm>
          <a:prstGeom prst="roundRect">
            <a:avLst/>
          </a:prstGeom>
          <a:solidFill>
            <a:srgbClr val="F3E8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Mitigate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99516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32320" y="1645920"/>
            <a:ext cx="1508760" cy="822960"/>
          </a:xfrm>
          <a:prstGeom prst="roundRect">
            <a:avLst/>
          </a:prstGeom>
          <a:solidFill>
            <a:srgbClr val="FDE2E8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0547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Learn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0" y="1828800"/>
            <a:ext cx="4480560" cy="2011680"/>
          </a:xfrm>
          <a:prstGeom prst="roundRect">
            <a:avLst/>
          </a:prstGeom>
          <a:solidFill>
            <a:srgbClr val="D9EBF7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42432" y="1901952"/>
            <a:ext cx="4334256" cy="1865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How this helps the team</a:t>
            </a:r>
            <a:br/>
            <a:br/>
            <a:r>
              <a:t>The workflow becomes easier to explain, easier to automate and easier to improve.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4E79"/>
                </a:solidFill>
              </a:defRPr>
            </a:pPr>
            <a:r>
              <a:t>Deep Dive 10 — Platform as a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F4F4F"/>
                </a:solidFill>
              </a:defRPr>
            </a:pPr>
            <a:r>
              <a:t>A great internal platform removes friction and keeps teams moving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Example: a developer clicks a self-service button to provision a new environment with a template, pipeline and monitoring.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The platform team interviews users, measures adoption and prioritises the workflows that create the most value.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Golden paths make the right behaviour easy, while guardrails keep the platform safe and consistent.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The best platforms get better from feedback loops, usage telemetry and common service templates.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This turns infrastructure from a bottleneck into an accelerant for the business.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Treat the platform backlog like any product backlog: user pain, outcome metrics and adoption all matter.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The best platforms show up in the developer experience as less toil and more momentum.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1325880"/>
            <a:ext cx="4297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Example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508760" cy="822960"/>
          </a:xfrm>
          <a:prstGeom prst="roundRect">
            <a:avLst/>
          </a:prstGeom>
          <a:solidFill>
            <a:srgbClr val="E6F2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Discover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5740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94560" y="1645920"/>
            <a:ext cx="1508760" cy="822960"/>
          </a:xfrm>
          <a:prstGeom prst="roundRect">
            <a:avLst/>
          </a:prstGeom>
          <a:solidFill>
            <a:srgbClr val="E8F5E9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6771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Template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0332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40480" y="1645920"/>
            <a:ext cx="1508760" cy="822960"/>
          </a:xfrm>
          <a:prstGeom prst="roundRect">
            <a:avLst/>
          </a:prstGeom>
          <a:solidFill>
            <a:srgbClr val="FDF2D4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Deploy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4924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0" y="1645920"/>
            <a:ext cx="1508760" cy="822960"/>
          </a:xfrm>
          <a:prstGeom prst="roundRect">
            <a:avLst/>
          </a:prstGeom>
          <a:solidFill>
            <a:srgbClr val="F3E8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Measure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99516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32320" y="1645920"/>
            <a:ext cx="1508760" cy="822960"/>
          </a:xfrm>
          <a:prstGeom prst="roundRect">
            <a:avLst/>
          </a:prstGeom>
          <a:solidFill>
            <a:srgbClr val="FDE2E8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0547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Improve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0" y="1828800"/>
            <a:ext cx="4480560" cy="2011680"/>
          </a:xfrm>
          <a:prstGeom prst="roundRect">
            <a:avLst/>
          </a:prstGeom>
          <a:solidFill>
            <a:srgbClr val="D9EBF7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42432" y="1901952"/>
            <a:ext cx="4334256" cy="1865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How this helps the team</a:t>
            </a:r>
            <a:br/>
            <a:br/>
            <a:r>
              <a:t>The workflow becomes easier to explain, easier to automate and easier to improve.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4E79"/>
                </a:solidFill>
              </a:defRPr>
            </a:pPr>
            <a:r>
              <a:t>Deep Dive 11 — Operating model and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F4F4F"/>
                </a:solidFill>
              </a:defRPr>
            </a:pPr>
            <a:r>
              <a:t>Scale adoption through standards, collaboration and feedback loops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Governance should be lightweight and embedded in workflows rather than bolted on at the end.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Teams need clear ownership of platforms, services and environments so incidents are easier to triage.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Shared standards for naming, tagging, logging and security help teams scale without chaos.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A platform council or architecture forum can help prioritise cross-cutting changes without slowing delivery.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The operating model should make good defaults obvious and exceptional changes easy to review.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Great platforms combine autonomy with enough coherence to prevent sprawl and duplication.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1325880"/>
            <a:ext cx="4297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Example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508760" cy="822960"/>
          </a:xfrm>
          <a:prstGeom prst="roundRect">
            <a:avLst/>
          </a:prstGeom>
          <a:solidFill>
            <a:srgbClr val="E6F2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Standardise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5740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94560" y="1645920"/>
            <a:ext cx="1508760" cy="822960"/>
          </a:xfrm>
          <a:prstGeom prst="roundRect">
            <a:avLst/>
          </a:prstGeom>
          <a:solidFill>
            <a:srgbClr val="E8F5E9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6771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Govern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0332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40480" y="1645920"/>
            <a:ext cx="1508760" cy="822960"/>
          </a:xfrm>
          <a:prstGeom prst="roundRect">
            <a:avLst/>
          </a:prstGeom>
          <a:solidFill>
            <a:srgbClr val="FDF2D4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Review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4924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0" y="1645920"/>
            <a:ext cx="1508760" cy="822960"/>
          </a:xfrm>
          <a:prstGeom prst="roundRect">
            <a:avLst/>
          </a:prstGeom>
          <a:solidFill>
            <a:srgbClr val="F3E8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Improve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99516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32320" y="1645920"/>
            <a:ext cx="1508760" cy="822960"/>
          </a:xfrm>
          <a:prstGeom prst="roundRect">
            <a:avLst/>
          </a:prstGeom>
          <a:solidFill>
            <a:srgbClr val="FDE2E8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0547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Scale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0" y="1828800"/>
            <a:ext cx="4480560" cy="2011680"/>
          </a:xfrm>
          <a:prstGeom prst="roundRect">
            <a:avLst/>
          </a:prstGeom>
          <a:solidFill>
            <a:srgbClr val="D9EBF7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42432" y="1901952"/>
            <a:ext cx="4334256" cy="1865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How this helps the team</a:t>
            </a:r>
            <a:br/>
            <a:br/>
            <a:r>
              <a:t>The workflow becomes easier to explain, easier to automate and easier to improve.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4E79"/>
                </a:solidFill>
              </a:defRPr>
            </a:pPr>
            <a:r>
              <a:t>Day 2 recap — From tools to operating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F4F4F"/>
                </a:solidFill>
              </a:defRPr>
            </a:pPr>
            <a:r>
              <a:t>The real outcome is a faster, safer and more reliable delivery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Use containers and Kubernetes to make deployment portable and repeatable.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Make security and observability part of the pipeline from the beginning, not as afterthoughts.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Treat the platform as a product and improve it with real user feedback and measurable outcomes.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Ensure every change has a path to verify, roll back and learn from the result.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The most mature teams combine technical excellence with strong operating habits.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A platform engineering maturity journey is usually incremental, visible and rooted in real team pain.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Start with the next painful workflow, prove a better path and then expand the pattern.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1325880"/>
            <a:ext cx="4297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Example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508760" cy="822960"/>
          </a:xfrm>
          <a:prstGeom prst="roundRect">
            <a:avLst/>
          </a:prstGeom>
          <a:solidFill>
            <a:srgbClr val="E6F2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Automate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5740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94560" y="1645920"/>
            <a:ext cx="1508760" cy="822960"/>
          </a:xfrm>
          <a:prstGeom prst="roundRect">
            <a:avLst/>
          </a:prstGeom>
          <a:solidFill>
            <a:srgbClr val="E8F5E9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6771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Secure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0332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40480" y="1645920"/>
            <a:ext cx="1508760" cy="822960"/>
          </a:xfrm>
          <a:prstGeom prst="roundRect">
            <a:avLst/>
          </a:prstGeom>
          <a:solidFill>
            <a:srgbClr val="FDF2D4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Observe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4924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0" y="1645920"/>
            <a:ext cx="1508760" cy="822960"/>
          </a:xfrm>
          <a:prstGeom prst="roundRect">
            <a:avLst/>
          </a:prstGeom>
          <a:solidFill>
            <a:srgbClr val="F3E8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Scale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0" y="1828800"/>
            <a:ext cx="4480560" cy="2011680"/>
          </a:xfrm>
          <a:prstGeom prst="roundRect">
            <a:avLst/>
          </a:prstGeom>
          <a:solidFill>
            <a:srgbClr val="D9EBF7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42432" y="1901952"/>
            <a:ext cx="4334256" cy="1865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How this helps the team</a:t>
            </a:r>
            <a:br/>
            <a:br/>
            <a:r>
              <a:t>The workflow becomes easier to explain, easier to automate and easier to improve.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