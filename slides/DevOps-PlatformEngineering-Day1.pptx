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participants. Explain that slides include detailed notes that also serve as the participant reference. Encourage questions and note-taking.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stage: participants will spend two days moving from principles to practice. Emphasise that DevOps is not a job title but a way of working, and platform engineering is the discipline that makes that way of working scalable.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DevOps emerged from the observation that throwing code over the wall from dev to ops creates delays and outages. CALMS is a useful checklist: if one element is missing, the transformation is fragile.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 that the left side emphasises building the right thing and building it right, while the right side emphasises operating it safely and learning from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analogy of a public cloud: AWS does not make you hand-craft every VM. A good internal platform gives the same experience inside an organisation.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useful phrase: 'DevOps is the what and why; platform engineering is the how at scale.' Mention Team Topologies: platform teams should reduce, not increase, cognitive 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Orient participants: native Python (Lab 00), Docker Compose stacks (Labs 03/08), Terraform-managed containers (Lab 05) and a kind Kubernetes cluster (Labs 06/09) all live on one VM. Every URL in the course is http://localhost:&lt;port&gt;. No cloud account and no shared infrastructure - and full cleanup is one command per stack. The workflow, not the infrastructure, is what transfers to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here. Ask participants for one pain point they experience where a platform could help.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module shifts from technology to people. Most DevOps failures are cultural, not technical. Use this time to make the case for psychological safety and shared ownership.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the DORA research and the book Accelerate. Cite evidence that culture is measurable and correlates with business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Encourage participants to map their current communication friction points. The lab will practise a pull request and retro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which symptom is most familiar. Transition to the next module: tools alone cannot fix silos, but the wrong tools can reinforce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Briefly introduce stream-aligned, platform, complicated-subsystem and enabling teams. Emphasise that platform teams exist to reduce cognitive load, not to own everything.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survey module. The goal is not to master every tool but to understand the categories and how they compose into a toolchain.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Encourage participants to map their current toolchain to these categories and identify gaps.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distinction: automation does a task; orchestration coordinates tasks. Both reduce toil and free humans for higher-value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Metrics are powerful levers. If the team believes metrics will be weaponised, they will game them. Frame metrics as improvement signals.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IaC is often the first concrete win participants can take back. Emphasise version control, idempotency and state management.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declarative (Terraform, CloudFormation) with imperative (scripts that run commands). Declarative models are easier to reason about and drift-detect.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loop. The state file is critical: it maps real-world IDs back to the code so the tool can compute diffs safely.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cloud-native environments, configuration management is shrinking because containers and Kubernetes handle much of it. Still useful for bare metal and VMs.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are IaC, answering different questions: Terraform answers 'what infrastructure exists?', Ansible answers 'how is each machine configured?'. Real estates use both: Terraform creates the VM, Ansible (or a container image) configures it. The bonus playbook demonstrates idempotence - the property that makes IaC safe to re-run - on the participant's own VM with no SSH or inventory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practices turn IaC from a convenience into a safety mechanism. The lab will exercise plan/apply and state with the Docker provider so no cloud account is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CI/CD is the engine of fast flow. Tie it back to the DevOps loop and the platform: pipelines should be products, not snowflakes.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Differentiate CI, CD and continuous deployment. Most organisations aim for continuous delivery first; full auto-deployment requires strong automated testing and feature flags.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the arrows. Security scans sit in the middle because they must be fast enough not to break flow. Feedback loops allow rollbacks and fix-forward.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most common CI security mistake: a scan step that can never fail the build looks like a control but changes nothing. In Lab 04 the workflow runs Trivy twice - once as a report (severity HIGH+CRITICAL, exit-code 0) and once as a gate (CRITICAL only, ignore-unfixed, exit-code 1). Discuss what belongs in a gate on day one versus after a triage period. The pinned action version and least-privilege token are supply-chain hygiene participants should copy into every workflow they write.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DORA research (Accelerate, State of DevOps reports) shows speed and stability are not a trade-off: elite performers are better at both, because small automated changes are both faster and safer. Use all four together - optimising deployment frequency alone is gamed easily and shows up in change failure rate. These metrics measure the system, not individuals; never use them for performance reviews or they will be gamed. The capstone handover document asks teams to track these for services on the golden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platform engineering pays off: a small platform team can enable many stream-aligned teams to ship safely without becoming a ticket desk.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case study synthesises patterns from the State of DevOps reports. Invite participants to compare with their own release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1A3C6C"/>
                </a:solidFill>
                <a:latin typeface="Calibri"/>
              </a:rPr>
              <a:t>DevOps &amp; Platform Engineering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333333"/>
                </a:solidFill>
                <a:latin typeface="Calibri"/>
              </a:rPr>
              <a:t>Day 1 — Foundations, Culture, IaC &amp; CI/CD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4A90D9"/>
                </a:solidFill>
                <a:latin typeface="Calibri"/>
              </a:rPr>
              <a:t>Module 1</a:t>
            </a:r>
            <a:br/>
            <a:r>
              <a:t>Introduction to DevOps and Platform Engineering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What is DevOps?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A set of practices that combines software development (Dev) and IT operations (Ops).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Aims to shorten the systems development life cycle and deliver continuous high-quality software.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Underpinned by CALMS: Culture, Automation, Lean, Measurement, Sharing.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Not a tool, not a role — it is a way of organising work around flow and feedback.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Core loop: Plan → Create → Verify → Release → Deploy → Operate → Monitor → repeat.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C6C"/>
                </a:solidFill>
                <a:latin typeface="Calibri"/>
              </a:rPr>
              <a:t>The DevOps Infinity Loop</a:t>
            </a:r>
          </a:p>
        </p:txBody>
      </p:sp>
      <p:pic>
        <p:nvPicPr>
          <p:cNvPr id="4" name="Picture 3" descr="01-devops-infinity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4141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333333"/>
                </a:solidFill>
                <a:latin typeface="Calibri"/>
              </a:rPr>
              <a:t>DevOps is a continuous cycle of feedback, learning and improvement.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What is Platform Engineering?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Platform engineering builds and maintains internal developer platforms (IDPs).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An IDP glues together tools, APIs, workflows and guard rails so stream-aligned teams can self-serve.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It reduces cognitive load: developers focus on features, not on wiring up infrastructure.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It treats the platform as a product with users, a backlog, SLOs and a roadmap.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Typical capabilities: compute, observability, CI/CD, secrets, policy, environments.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Synergy: DevOps + Platform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DevOps defines the culture and practices; platform engineering provides the paved road.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Without a platform, every team reinvents pipelines, monitoring and deployment patterns.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Without DevOps culture, the platform becomes a central bottleneck or ignored shelfware.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Together they enable fast flow, high quality and reduced toil at scale.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Platform teams succeed when they act as enablers, not gatekeepers.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C6C"/>
                </a:solidFill>
                <a:latin typeface="Calibri"/>
              </a:rPr>
              <a:t>Your Lab Environment for These Two Days</a:t>
            </a:r>
          </a:p>
        </p:txBody>
      </p:sp>
      <p:pic>
        <p:nvPicPr>
          <p:cNvPr id="4" name="Picture 3" descr="11-course-lab-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44496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333333"/>
                </a:solidFill>
                <a:latin typeface="Calibri"/>
              </a:rPr>
              <a:t>One Ubuntu 24.04 VM per participant — every lab runs on its localhost.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Key 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4A90D9"/>
                </a:solidFill>
                <a:latin typeface="Calibri"/>
              </a:rPr>
              <a:t>"Platform engineering turns DevOps from a heroic individual effort into a repeatable, scalable organisational capability."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0">
                <a:solidFill>
                  <a:srgbClr val="333333"/>
                </a:solidFill>
                <a:latin typeface="Calibri"/>
              </a:rPr>
              <a:t>— Course synthesis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4A90D9"/>
                </a:solidFill>
                <a:latin typeface="Calibri"/>
              </a:rPr>
              <a:t>Module 2</a:t>
            </a:r>
            <a:br/>
            <a:r>
              <a:t>Culture and Collaboration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Building a Collaborative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Psychological safety: people can speak up, ask questions and admit mistakes without blame.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Shared ownership: the whole team owns availability, security, cost and user outcomes.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Westrum organisational culture predicts software delivery performance.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High-trust environments learn faster and recover from incidents more quickly.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Practical habits: blameless postmortems, pair/mob work, transparent metrics.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Communication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Align language: devs, ops, security and product should share goals, not jargon.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Chat-ops and shared channels reduce ticket tennis and increase context.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Document decisions in lightweight ADRs (Architecture Decision Records).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Run regular ceremonies that include all disciplines: stand-ups, refinement, retros.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Visible work: Kanban or boards that show flow across teams, not just inside teams.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Overcoming Silos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Symptoms of silos:</a:t>
            </a:r>
          </a:p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• Long hand-off queues</a:t>
            </a:r>
          </a:p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• 'Works on my machine'</a:t>
            </a:r>
          </a:p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• Separate blame cultures</a:t>
            </a:r>
          </a:p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• Duplicated tooling</a:t>
            </a:r>
          </a:p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• Slow incident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18872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Antidotes:</a:t>
            </a:r>
          </a:p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• Cross-functional teams</a:t>
            </a:r>
          </a:p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• Shared on-call rotations</a:t>
            </a:r>
          </a:p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• Common platforms and APIs</a:t>
            </a:r>
          </a:p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• Joint OKRs across functions</a:t>
            </a:r>
          </a:p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• Team Topologies patterns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C6C"/>
                </a:solidFill>
                <a:latin typeface="Calibri"/>
              </a:rPr>
              <a:t>Team Topologies</a:t>
            </a:r>
          </a:p>
        </p:txBody>
      </p:sp>
      <p:pic>
        <p:nvPicPr>
          <p:cNvPr id="4" name="Picture 3" descr="09-team-top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39859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333333"/>
                </a:solidFill>
                <a:latin typeface="Calibri"/>
              </a:rPr>
              <a:t>Choose the right team type for the right problem.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4A90D9"/>
                </a:solidFill>
                <a:latin typeface="Calibri"/>
              </a:rPr>
              <a:t>Module 3</a:t>
            </a:r>
            <a:br/>
            <a:r>
              <a:t>Tools and Technologies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Essential Tool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Source control: Git, GitHub, GitLab, Bitbucket — the single source of truth.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CI/CD: GitHub Actions, GitLab CI, Azure DevOps, Jenkins, CircleCI, Argo Workflows.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IaC: Terraform, Pulumi, Ansible, CloudFormation, ARM/Bicep.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Containers &amp; orchestration: Docker, containerd, Kubernetes, Helm.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Observability: Prometheus, Grafana, Datadog, Honeycomb, Jaeger, ELK/Loki.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Automation and Orchestration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Automate what is repeated, error-prone or slows flow: builds, tests, deployments, provisioning.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Orchestration coordinates multiple automated tasks across systems and teams.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Workflow engines (e.g. Argo, Airflow) handle complex, event-driven pipelines.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Idempotency matters: running the same automation twice should converge to the same state.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Start with versioned scripts, evolve to declarative platforms, add guard rails.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Monitoring &amp; Analytics for Continuous Improvement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DORA metrics: deployment frequency, lead time, change failure rate, MTTR.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Platform engineering adds platform adoption, developer satisfaction and self-serve metrics.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Use metrics to prioritise work, not to punish people.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Dashboards should lead to action: alerts need runbooks, trends need owners.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Continuous improvement = measure, hypothesise, experiment, learn.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4A90D9"/>
                </a:solidFill>
                <a:latin typeface="Calibri"/>
              </a:rPr>
              <a:t>Module 4</a:t>
            </a:r>
            <a:br/>
            <a:r>
              <a:t>Infrastructure as Code (IaC)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Principles of IaC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Infrastructure is defined in files, reviewed, versioned and tested like application code.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Declarative: describe the desired state; the tool converges reality to match it.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Idempotent: repeated applies produce the same result (no drift or duplication).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Immutable infrastructure: change by replacing, not by patching in place.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GitOps: Git is the source of truth; agents reconcile actual state automatically.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C6C"/>
                </a:solidFill>
                <a:latin typeface="Calibri"/>
              </a:rPr>
              <a:t>IaC Declarative Workflow</a:t>
            </a:r>
          </a:p>
        </p:txBody>
      </p:sp>
      <p:pic>
        <p:nvPicPr>
          <p:cNvPr id="4" name="Picture 3" descr="03-iac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39078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333333"/>
                </a:solidFill>
                <a:latin typeface="Calibri"/>
              </a:rPr>
              <a:t>Code → Plan → Apply → State tracking → Real infrastructure.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IaC with Configuration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Provisioning tools (Terraform, CloudFormation) create resources.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Configuration management (Ansible, Chef, Puppet) installs software and settings.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Container images increasingly replace config management for runtime state.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Use modules to reuse patterns across environments and teams.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Separate environment-specific values (tfvars) from reusable modules.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Provisioning vs Configuration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TERRAFORM (provisioning)</a:t>
            </a:r>
          </a:p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Creates and destroys infrastructure: networks, VMs, containers, DNS.</a:t>
            </a:r>
          </a:p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Declarative HCL; state file tracks what exists.</a:t>
            </a:r>
          </a:p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plan shows the diff before anything changes.</a:t>
            </a:r>
          </a:p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Lab 05: provisions our two services on local Docker.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18872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ANSIBLE (configuration management)</a:t>
            </a:r>
          </a:p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Configures existing machines: packages, files, services, users.</a:t>
            </a:r>
          </a:p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Declarative YAML tasks; idempotent modules, no state file.</a:t>
            </a:r>
          </a:p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--check --diff previews changes; second run reports changed=0.</a:t>
            </a:r>
          </a:p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Lab 05 bonus: configures your own VM over the local connection.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IaC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Store code in Git; use branching, PRs and code review for every change.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Run 'plan' in CI and require human approval for production 'apply'.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Use remote state with locking to prevent concurrent changes.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Lint and validate: terraform fmt, validate, tflint, checkov/tfsec.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Tag resources, use least privilege, and keep secrets out of state files.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4A90D9"/>
                </a:solidFill>
                <a:latin typeface="Calibri"/>
              </a:rPr>
              <a:t>Module 5</a:t>
            </a:r>
            <a:br/>
            <a:r>
              <a:t>Continuous Integration and Continuous Delivery (CI/CD)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The CI/CD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Continuous Integration: merge code to trunk frequently, validate with automated tests.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Continuous Delivery: keep code in a deployable state; deploy to production on demand.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Continuous Deployment: deploy automatically after tests pass (higher maturity).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Pipeline stages: build, test, security scan, artifact, deploy, verify, monitor.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Fast feedback: fail early, surface root cause quickly, keep the pipeline green.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C6C"/>
                </a:solidFill>
                <a:latin typeface="Calibri"/>
              </a:rPr>
              <a:t>CI/CD Pipeline Flow</a:t>
            </a:r>
          </a:p>
        </p:txBody>
      </p:sp>
      <p:pic>
        <p:nvPicPr>
          <p:cNvPr id="4" name="Picture 3" descr="02-cicd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33861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333333"/>
                </a:solidFill>
                <a:latin typeface="Calibri"/>
              </a:rPr>
              <a:t>From commit through production, with feedback and rollback loops.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A Scan Is Not a Gate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Report step: scan results are visible, but the build stays green (exit-code 0).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Gate step: the build FAILS on findings you can act on (exit-code 1).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Gate on FIXABLE criticals - failing on unfixable CVEs just trains people to ignore red.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Pin third-party pipeline actions to versions, never a moving branch.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Give the pipeline token least privilege (permissions: contents: read).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C6C"/>
                </a:solidFill>
                <a:latin typeface="Calibri"/>
              </a:rPr>
              <a:t>Measuring Delivery: The Four DORA Metrics</a:t>
            </a:r>
          </a:p>
        </p:txBody>
      </p:sp>
      <p:pic>
        <p:nvPicPr>
          <p:cNvPr id="4" name="Picture 3" descr="12-dora-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41484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333333"/>
                </a:solidFill>
                <a:latin typeface="Calibri"/>
              </a:rPr>
              <a:t>Two throughput metrics, two stability metrics - always read together.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Integrating Platform Engineering into CI/CD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Golden templates provide approved pipeline patterns out-of-the-box.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Self-service environments let teams spin up ephemeral staging safely.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Secrets and credentials are managed by the platform, not hard-coded in repos.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Deployment targets are abstracted: teams deploy to environments, not to servers.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Observability hooks are injected by the platform so every service is monitored by default.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Case Study: Successful CI/CD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Goal: reduce release lead time from weeks to hours while keeping change-failure rate low.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Approach: trunk-based development, feature flags, automated canary analysis.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Platform provided templated pipelines, artefact registry and deployment guard rails.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Outcome: higher deployment frequency, faster recovery, reduced manual toil.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Lesson: optimise for small, safe changes rather than big-bang releases.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