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participants. Explain that slides include detailed notes that also serve as the participant reference. Encourage questions and note-taking.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stage: participants will spend two days moving from principles to practice. Emphasise that DevOps is not a job title but a way of working, and platform engineering is the discipline that makes that way of working scalable.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DevOps emerged from the observation that throwing code over the wall from dev to ops creates delays and outages. CALMS is a useful checklist: if one element is missing, the transformation is fragile.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the left side emphasises building the right thing and building it right, while the right side emphasises operating it safely and learning from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analogy of a public cloud: AWS does not make you hand-craft every VM. A good internal platform gives the same experience inside an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useful phrase: 'DevOps is the what and why; platform engineering is the how at scale.' Mention Team Topologies: platform teams should reduce, not increase, cognitive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Ask participants for one pain point they experience where a platform could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module shifts from technology to people. Most DevOps failures are cultural, not technical. Use this time to make the case for psychological safety and shared ownership.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the DORA research and the book Accelerate. Cite evidence that culture is measurable and correlates with business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participants to map their current communication friction points. The lab will practise a pull request and retro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symptom is most familiar. Transition to the next module: tools alone cannot fix silos, but the wrong tools can reinforce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Briefly introduce stream-aligned, platform, complicated-subsystem and enabling teams. Emphasise that platform teams exist to reduce cognitive load, not to own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survey module. The goal is not to master every tool but to understand the categories and how they compose into a toolchain.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participants to map their current toolchain to these categories and identify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distinction: automation does a task; orchestration coordinates tasks. Both reduce toil and free humans for higher-value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Metrics are powerful levers. If the team believes metrics will be weaponised, they will game them. Frame metrics as improvement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IaC is often the first concrete win participants can take back. Emphasise version control, idempotency and state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declarative (Terraform, CloudFormation) with imperative (scripts that run commands). Declarative models are easier to reason about and drift-detect.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loop. The state file is critical: it maps real-world IDs back to the code so the tool can compute diffs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cloud-native environments, configuration management is shrinking because containers and Kubernetes handle much of it. Still useful for bare metal and VMs.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practices turn IaC from a convenience into a safety mechanism. The lab will exercise plan/apply and state with the Docker provider so no cloud account is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CI/CD is the engine of fast flow. Tie it back to the DevOps loop and the platform: pipelines should be products, not snowflakes.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Differentiate CI, CD and continuous deployment. Most organisations aim for continuous delivery first; full auto-deployment requires strong automated testing and feature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arrows. Security scans sit in the middle because they must be fast enough not to break flow. Feedback loops allow rollbacks and fix-forward.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platform engineering pays off: a small platform team can enable many stream-aligned teams to ship safely without becoming a ticket desk.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case study synthesises patterns from the State of DevOps reports. Invite participants to compare with their own release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1A3C6C"/>
                </a:solidFill>
                <a:latin typeface="Calibri"/>
              </a:rPr>
              <a:t>DevOps &amp; Platform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333333"/>
                </a:solidFill>
                <a:latin typeface="Calibri"/>
              </a:rPr>
              <a:t>Day 1 — Foundations, Culture, IaC &amp; CI/CD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1</a:t>
            </a:r>
            <a:br/>
            <a:r>
              <a:t>Introduction to DevOps and Platform Engineering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What is DevOps?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 set of practices that combines software development (Dev) and IT operations (Ops).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Aims to shorten the systems development life cycle and deliver continuous high-quality software.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Underpinned by CALMS: Culture, Automation, Lean, Measurement, Sharing.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Not a tool, not a role — it is a way of organising work around flow and feedback.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Core loop: Plan → Create → Verify → Release → Deploy → Operate → Monitor → repeat.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The DevOps Infinity Loop</a:t>
            </a:r>
          </a:p>
        </p:txBody>
      </p:sp>
      <p:pic>
        <p:nvPicPr>
          <p:cNvPr id="4" name="Picture 3" descr="01-devops-infinity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41608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DevOps is a continuous cycle of feedback, learning and improvement.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What is Platform Engineering?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engineering builds and maintains internal developer platforms (IDPs).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An IDP glues together tools, APIs, workflows and guard rails so stream-aligned teams can self-serve.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It reduces cognitive load: developers focus on features, not on wiring up infrastructure.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It treats the platform as a product with users, a backlog, SLOs and a roadmap.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Typical capabilities: compute, observability, CI/CD, secrets, policy, environments.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Synergy: DevOps + Platform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DevOps defines the culture and practices; platform engineering provides the paved road.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Without a platform, every team reinvents pipelines, monitoring and deployment patterns.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Without DevOps culture, the platform becomes a central bottleneck or ignored shelfware.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Together they enable fast flow, high quality and reduced toil at scale.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teams succeed when they act as enablers, not gatekeepers.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Key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4A90D9"/>
                </a:solidFill>
                <a:latin typeface="Calibri"/>
              </a:rPr>
              <a:t>"Platform engineering turns DevOps from a heroic individual effort into a repeatable, scalable organisational capability."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0">
                <a:solidFill>
                  <a:srgbClr val="333333"/>
                </a:solidFill>
                <a:latin typeface="Calibri"/>
              </a:rPr>
              <a:t>— Course synthesis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2</a:t>
            </a:r>
            <a:br/>
            <a:r>
              <a:t>Culture and Collaboration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Building a Collaborative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Psychological safety: people can speak up, ask questions and admit mistakes without blame.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Shared ownership: the whole team owns availability, security, cost and user outcomes.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Westrum organisational culture predicts software delivery performance.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High-trust environments learn faster and recover from incidents more quickly.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Practical habits: blameless postmortems, pair/mob work, transparent metrics.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Communication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Align language: devs, ops, security and product should share goals, not jargon.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Chat-ops and shared channels reduce ticket tennis and increase context.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Document decisions in lightweight ADRs (Architecture Decision Records).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Run regular ceremonies that include all disciplines: stand-ups, refinement, retros.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Visible work: Kanban or boards that show flow across teams, not just inside teams.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Overcoming Silos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Symptoms of silos: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Long hand-off queues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'Works on my machine'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Separate blame cultures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Duplicated tooling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Slow incident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3931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Antidotes: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Cross-functional teams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Shared on-call rotations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Common platforms and APIs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Joint OKRs across functions</a:t>
            </a:r>
          </a:p>
          <a:p>
            <a:pPr>
              <a:defRPr sz="1800">
                <a:solidFill>
                  <a:srgbClr val="333333"/>
                </a:solidFill>
                <a:latin typeface="Calibri"/>
              </a:defRPr>
            </a:pPr>
            <a:r>
              <a:t>• Team Topologies patterns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Team Topologies</a:t>
            </a:r>
          </a:p>
        </p:txBody>
      </p:sp>
      <p:pic>
        <p:nvPicPr>
          <p:cNvPr id="4" name="Picture 3" descr="09-team-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1622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Choose the right team type for the right problem.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3</a:t>
            </a:r>
            <a:br/>
            <a:r>
              <a:t>Tools and Technologies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Essential Tool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Source control: Git, GitHub, GitLab, Bitbucket — the single source of truth.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CI/CD: GitHub Actions, GitLab CI, Azure DevOps, Jenkins, CircleCI, Argo Workflows.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IaC: Terraform, Pulumi, Ansible, CloudFormation, ARM/Bicep.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Containers &amp; orchestration: Docker, containerd, Kubernetes, Helm.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Observability: Prometheus, Grafana, Datadog, Honeycomb, Jaeger, ELK/Loki.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Automation and Orchestration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Automate what is repeated, error-prone or slows flow: builds, tests, deployments, provisioning.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Orchestration coordinates multiple automated tasks across systems and teams.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Workflow engines (e.g. Argo, Airflow) handle complex, event-driven pipelines.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Idempotency matters: running the same automation twice should converge to the same state.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Start with versioned scripts, evolve to declarative platforms, add guard rails.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Monitoring &amp; Analytics for Continuous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DORA metrics: deployment frequency, lead time, change failure rate, MTTR.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engineering adds platform adoption, developer satisfaction and self-serve metrics.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Use metrics to prioritise work, not to punish people.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Dashboards should lead to action: alerts need runbooks, trends need owners.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improvement = measure, hypothesise, experiment, learn.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4</a:t>
            </a:r>
            <a:br/>
            <a:r>
              <a:t>Infrastructure as Code (IaC)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Principles of IaC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Infrastructure is defined in files, reviewed, versioned and tested like application code.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Declarative: describe the desired state; the tool converges reality to match it.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Idempotent: repeated applies produce the same result (no drift or duplication).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Immutable infrastructure: change by replacing, not by patching in place.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GitOps: Git is the source of truth; agents reconcile actual state automatically.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IaC Declarative Workflow</a:t>
            </a:r>
          </a:p>
        </p:txBody>
      </p:sp>
      <p:pic>
        <p:nvPicPr>
          <p:cNvPr id="4" name="Picture 3" descr="03-iac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37694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Code → Plan → Apply → State tracking → Real infrastructure.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IaC with Configuration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Provisioning tools (Terraform, CloudFormation) create resources.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Configuration management (Ansible, Chef, Puppet) installs software and settings.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Container images increasingly replace config management for runtime state.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Use modules to reuse patterns across environments and teams.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Separate environment-specific values (tfvars) from reusable modules.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IaC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Store code in Git; use branching, PRs and code review for every change.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Run 'plan' in CI and require human approval for production 'apply'.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Use remote state with locking to prevent concurrent changes.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Lint and validate: terraform fmt, validate, tflint, checkov/tfsec.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Tag resources, use least privilege, and keep secrets out of state files.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EAF2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4A90D9"/>
                </a:solidFill>
                <a:latin typeface="Calibri"/>
              </a:rPr>
              <a:t>Module 5</a:t>
            </a:r>
            <a:br/>
            <a:r>
              <a:t>Continuous Integration and Continuous Delivery (CI/CD)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The CI/CD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Integration: merge code to trunk frequently, validate with automated tests.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Delivery: keep code in a deployable state; deploy to production on demand.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Continuous Deployment: deploy automatically after tests pass (higher maturity).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Pipeline stages: build, test, security scan, artifact, deploy, verify, monitor.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Fast feedback: fail early, surface root cause quickly, keep the pipeline green.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A3C6C"/>
                </a:solidFill>
                <a:latin typeface="Calibri"/>
              </a:rPr>
              <a:t>CI/CD Pipeline Flow</a:t>
            </a:r>
          </a:p>
        </p:txBody>
      </p:sp>
      <p:pic>
        <p:nvPicPr>
          <p:cNvPr id="4" name="Picture 3" descr="02-cicd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97280"/>
            <a:ext cx="7315200" cy="2885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333333"/>
                </a:solidFill>
                <a:latin typeface="Calibri"/>
              </a:rPr>
              <a:t>From commit through production, with feedback and rollback loops.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Integrating Platform Engineering into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Golden templates provide approved pipeline patterns out-of-the-box.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Self-service environments let teams spin up ephemeral staging safely.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Secrets and credentials are managed by the platform, not hard-coded in repos.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Deployment targets are abstracted: teams deploy to environments, not to servers.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Observability hooks are injected by the platform so every service is monitored by default.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A3C6C"/>
                </a:solidFill>
                <a:latin typeface="Calibri"/>
              </a:rPr>
              <a:t>Case Study: Successful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Goal: reduce release lead time from weeks to hours while keeping change-failure rate low.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Approach: trunk-based development, feature flags, automated canary analysis.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Platform provided templated pipelines, artefact registry and deployment guard rails.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Outcome: higher deployment frequency, faster recovery, reduced manual toil.</a:t>
            </a:r>
          </a:p>
          <a:p>
            <a:pPr>
              <a:defRPr sz="2000">
                <a:solidFill>
                  <a:srgbClr val="333333"/>
                </a:solidFill>
                <a:latin typeface="Calibri"/>
              </a:defRPr>
            </a:pPr>
            <a:r>
              <a:t>Lesson: optimise for small, safe changes rather than big-bang releases.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1 — DevOps loop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How a small change moves from commit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developer fixes a bug in the order service and opens a pull request.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PR triggers linting, unit tests, container build and security checks before merge.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Once merged, the pipeline publishes an image, deploys to staging and runs smoke tests.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Observability dashboards and alerting confirm the change is healthy before a production rollout.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feedback loop closes when the team reviews metrics, incidents and customer impact.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Plan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Commit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Build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Test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4108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1645920"/>
            <a:ext cx="1508760" cy="822960"/>
          </a:xfrm>
          <a:prstGeom prst="roundRect">
            <a:avLst/>
          </a:prstGeom>
          <a:solidFill>
            <a:srgbClr val="EAF7FA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513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Observe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2 — Culture and incident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Good collaboration turns incidents into learning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an API latency spike is detected during peak traffic.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incident channel opens, the on-call engineer shares symptoms, and the team assigns roles.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blameless review asks: what changed, what was affected, what evidence exists and how do we reduce risk?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Action items become backlog work: dashboards, runbooks, autoscaling, alert tuning and dependency checks.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shared goal is resilience, not blame, and the learning becomes reusable for the next incident.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Detect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Triage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Mitigate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Learn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3 — Common toolchain for a modern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A practical stack that support fast flow and safe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Source control: GitHub or GitLab with PRs, branch protection and code review.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CI: build, lint, test and scan on every change; use reusable workflow templates.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Delivery: package artefacts to a registry and promote images through dev, staging and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Operations: Terraform provisions infrastructure, Kubernetes runs workloads and Prometheus gives visibility.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platform provides defaults so teams can focus on product work rather than plumbing.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Git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Registry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K8s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Observe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4 — IaC with Terraform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Versioned infrastructure is easier to review and safer to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team defines a network, a database and a web app in Terraform modules.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plan phase shows the exact resources that will be created or changed before any apply.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remote state backend and locking prevent drift and conflicting updates from multiple operators.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Variables and tfvars separate reusable modules from environment-specific values such as region and size.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result is repeatable environments that can be recreated from Git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Write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Plan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Review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Apply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Verify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5 — CI/CD pipeline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Build safety in layers so failures are obvious and fast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commit triggers a pipeline that builds the app, tests it, scans dependencies and packages an artefact.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If the build fails, developers receive the failing stage and logs immediately.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If it passes, the pipeline can deploy to staging, run smoke tests and optionally promote to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Feature flags or canaries reduce blast radius and make rollback simple if metrics regress.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shortens feedback loops and keeps the release path repeatable.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Build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Monitor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Day 1 recap — A practical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Use these patterns to move from theory to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Start with one painful workflow: build, test, deploy, or incident response.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Automate the repetitive steps and create a versioned source of truth for your environments.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Add guardrails through PR reviews, security scanning and approval gates.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Measure outcomes with DORA-like metrics, adoption and reliability indicators.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Treat the platform as a product that removes toil and makes the right path the easiest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Automate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Measure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Improve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1 — DevOps loop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How a small change moves from commit to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developer fixes a bug in the order service and opens a pull request.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PR triggers linting, unit tests, container build and security checks before merge.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Once merged, the pipeline publishes an image, deploys to staging and runs smoke tests.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Observability dashboards and alerting confirm the change is healthy before a production rollout.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feedback loop closes when the team reviews metrics, incidents and customer impact.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simple rule is: every change should be observable, reversible and learnable.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Teams avoid long-lived branches and use short feedback loops to keep quality high.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Plan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Commit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Build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Test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64108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1645920"/>
            <a:ext cx="1508760" cy="822960"/>
          </a:xfrm>
          <a:prstGeom prst="roundRect">
            <a:avLst/>
          </a:prstGeom>
          <a:solidFill>
            <a:srgbClr val="EAF7FA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513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Observe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2 — Culture and incident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Good collaboration turns incidents into learning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an API latency spike is detected during peak traffic.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incident channel opens, the on-call engineer shares symptoms, and the team assigns roles.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blameless review asks: what changed, what was affected, what evidence exists and how do we reduce risk?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Action items become backlog work: dashboards, runbooks, autoscaling, alert tuning and dependency checks.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shared goal is resilience, not blame, and the learning becomes reusable for the next incident.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Psychological safety encourages people to say “I don’t know” before a bad decision becomes a production outage.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High-trust teams share operational context through chatops, docs and visible status boards.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Detect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Triage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Mitigate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Learn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3 — Common toolchain for a modern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A practical stack that supports fast flow and safe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Source control: GitHub or GitLab with PRs, branch protection and code review.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CI: build, lint, test and scan on every change; use reusable workflow templates.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Delivery: package artefacts to a registry and promote images through dev, staging and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Operations: Terraform provisions infrastructure, Kubernetes runs workloads and Prometheus gives visibility.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platform provides defaults so teams can focus on product work rather than plumbing.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mature stack combines local developer ergonomics with enterprise-grade controls and compliance.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goal is not to install more tools; it is to reduce friction while keeping the right guardrails.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Git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CI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Registry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K8s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Observe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4 — IaC with Terraform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Versioned infrastructure is easier to review and safer to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team defines a network, a database and a web app in Terraform modules.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plan phase shows the exact resources that will be created or changed before any apply.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remote state backend and locking prevent drift and conflicting updates from multiple operators.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Variables and tfvars separate reusable modules from environment-specific values such as region and size.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result is repeatable environments that can be recreated from Git in minutes.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Treat infrastructure changes like application changes: review them, test them and promote them carefully.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Good IaC reduces environment drift, makes disaster recovery practical and improves auditability.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Write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Plan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Review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Apply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Verify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5 — CI/CD pipeline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Build safety in layers so failures are obvious and fast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Example: a commit triggers a pipeline that builds the app, tests it, scans dependencies and packages an artefact.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If the build fails, developers receive the failing stage and logs immediately.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If it passes, the pipeline can deploy to staging, run smoke tests and optionally promote to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Feature flags or canaries reduce blast radius and make rollback simple if metrics regress.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This shortens feedback loops and keeps the release path repeatable.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 high-performing pipeline is fast, deterministic and visible to everyone involved.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 real value is not the pipeline itself but the confidence and speed it creates.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Build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Test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Deploy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Monitor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Deep Dive 6 — Measuring delivery effectiveness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Use metrics to guide improvement and avoid vanity dashboards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Deployment frequency shows how often the team can safely deliver value to users.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Lead time measures how quickly a change flows from idea to production.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Change failure rate shows how risky the delivery model is in practice.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MTTR highlights how quickly a team recovers when something goes wrong.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DORA metrics work best when teams use them to improve flow and learning, not to punish people.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Platform metrics such as self-service adoption and support tickets help quantify developer experience.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Measure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Analyse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Improve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Learn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9516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0" y="1645920"/>
            <a:ext cx="1508760" cy="822960"/>
          </a:xfrm>
          <a:prstGeom prst="roundRect">
            <a:avLst/>
          </a:prstGeom>
          <a:solidFill>
            <a:srgbClr val="FDE2E8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Day 1 recap — A practical playbook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F4F4F"/>
                </a:solidFill>
              </a:defRPr>
            </a:pPr>
            <a:r>
              <a:t>Use these patterns to move from theory to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Start with one painful workflow: build, test, deploy, or incident response.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Automate the repetitive steps and create a versioned source of truth for your environments.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Add guardrails through PR reviews, security scanning and approval gates.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Measure outcomes with DORA-like metrics, adoption and reliability indicators.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Treat the platform as a product that removes toil and makes the right path the easiest path.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Make the first win small, observable and easy to explain to the rest of the organisation.</a:t>
            </a:r>
          </a:p>
          <a:p>
            <a:pPr algn="l"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Then expand the pattern once the team has evidence that it works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0" y="1325880"/>
            <a:ext cx="4297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t>Example 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1508760" cy="822960"/>
          </a:xfrm>
          <a:prstGeom prst="roundRect">
            <a:avLst/>
          </a:prstGeom>
          <a:solidFill>
            <a:srgbClr val="E6F2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Automate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5740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94560" y="1645920"/>
            <a:ext cx="1508760" cy="822960"/>
          </a:xfrm>
          <a:prstGeom prst="roundRect">
            <a:avLst/>
          </a:prstGeom>
          <a:solidFill>
            <a:srgbClr val="E8F5E9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Measure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332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40480" y="1645920"/>
            <a:ext cx="1508760" cy="822960"/>
          </a:xfrm>
          <a:prstGeom prst="roundRect">
            <a:avLst/>
          </a:prstGeom>
          <a:solidFill>
            <a:srgbClr val="FDF2D4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Improve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349240" y="1901952"/>
            <a:ext cx="320040" cy="310896"/>
          </a:xfrm>
          <a:prstGeom prst="rightArrow">
            <a:avLst/>
          </a:prstGeom>
          <a:solidFill>
            <a:srgbClr val="709D32"/>
          </a:solidFill>
          <a:ln w="19050">
            <a:solidFill>
              <a:srgbClr val="709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0" y="1645920"/>
            <a:ext cx="1508760" cy="822960"/>
          </a:xfrm>
          <a:prstGeom prst="roundRect">
            <a:avLst/>
          </a:prstGeom>
          <a:solidFill>
            <a:srgbClr val="F3E8FF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1719072"/>
            <a:ext cx="136245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Scale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828800"/>
            <a:ext cx="4480560" cy="2011680"/>
          </a:xfrm>
          <a:prstGeom prst="roundRect">
            <a:avLst/>
          </a:prstGeom>
          <a:solidFill>
            <a:srgbClr val="D9EBF7"/>
          </a:solidFill>
          <a:ln w="1524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1901952"/>
            <a:ext cx="4334256" cy="18653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000000"/>
                </a:solidFill>
              </a:defRPr>
            </a:pPr>
            <a:r>
              <a:t>What this looks like in practice</a:t>
            </a:r>
            <a:br/>
            <a:br/>
            <a:r>
              <a:t>A small change moves through review, automation and verification before release.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